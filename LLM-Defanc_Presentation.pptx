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mentors and reviewers to the presentation of my internship project, LLM-Defanc. LLM-Defanc is an Enterprise AI Security Gateway designed to provide a secure proxy firewall layer between internal employees and large language model APIs like OpenAI, Claude, and Gemini. During this presentation, I will walk you through the business problem, the architecture of the solution, the modular backend logic I implemented in FastAPI, and a live demonstration of the security gateway's capabilities.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agenda of the presentation. We will cover the core problem, existing market gaps, our proposed gateway solution, technology stack, system architecture, core security modules, and finally look at the endpoints, dashboard design, roadmap, and conclusion.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discuss the problem. While AI improves efficiency, direct connections bypass enterprise boundaries. Employees paste customer lists or API credentials, external attackers send prompt injections, and standard compliance audits are completely blocked because there is no logging on outgoing prompts. This makes Generative AI a primary attack vector today.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three major challenges. Traditional web application firewalls check for SQL injection and scripting tags, but they fail at natural language analysis. Without a gateway, there is a total blindspot regarding PII leakage, conversational threats, and record keeping.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architecture diagram of LLM-Defanc. The user sends a request. We first check their credentials. Then the prompt is evaluated by our custom regex PII scanner. If safe or redacted, we pass it to the Prompt Guard. If any violation triggers a blocking policy, we return a 400 error. Otherwise, the cleaned prompt is forwarded, and metrics are saved asynchronously in the database.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technology stack is built for high-scale, production environments. FastAPI handles high concurrency via Python's async features. PostgreSQL stores persistent audit trails. Redis processes sliding-window rate limit checks with sub-millisecond overhead. And the deployment is fully containerized using Docker, making it highly portable.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step-by-step lifecycle of a request. The user starts with Step 1, authentication. In Step 2, the rate limiter intercepts. Next, the DLP engine scans for PII in Step 3. In Step 4, we evaluate the risk score for prompt injections. Step 5 is the model query, and in Step 6, we log the transaction. This workflow is completely async to ensure high-performance API throughput.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begins at the authentication layer. LLM-Defanc enforces modern stateless JWT token authentication. User passwords are encrypted inside PostgreSQL database using Bcrypt, and each security endpoint uses FastAPI dependencies to authenticate clients, ensuring only authorized applications can access the AI model proxies.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show a visual example of our Data Loss Prevention engine in action. When an employee enters raw text containing emails or credit cards, the regex engine identifies the offset indexes and replaces the sensitive data with custom entity tokens. The credit card scanner includes a Luhn algorithm checker to ensure we only redact actual, valid credit card numbers and reduce false positive match events.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injection is one of the most critical threats in GenAI. Attackers trick the model into ignoring security rules or outputting hidden system instructions. LLM-Defanc uses a multi-layered heuristic detector with weights. If a prompt triggers multiple injection indicators and the total score exceeds the configured threshold, the request is immediately blocked, returning a structured 400 Bad Request JSON response, which we log for security forensics.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Forensic auditing is critical for enterprise security. LLM-Defanc persists a detailed AuditLog schema. Importantly, logging is done asynchronously using FastAPI's background tasks. This means the logging write happens in the background, allowing the client to receive the response immediately without waiting for database writes.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provide high visibility, LLM-Defanc features a security dashboard. Here we show example metrics including total requests, allowed vs blocked prompts, and PII/injection statistics. The UI aggregates data dynamically, allowing security admins to track trends, inspect logs, and toggle security rules on the fly.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API route summary. The gateway is fully stateless and follows standard REST practices. All data-gathering endpoints and the main proxy route are protected via JWT auth tokens. The routes are split into: auth endpoints, the security proxy endpoint, and dashboard telemetry endpoints.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forward, LLM-Defanc is planned to scale beyond an MVP. The roadmap includes integrating lightweight ML classification models to detect semantic injections that regex rules might miss. In addition, we will implement SIEM exporters to pipe gateway alerts directly into enterprise Security Operations Centers (SOCs) like Wazuh or Splunk, and configure OIDC for SSO.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LLM-Defanc bridges the gap between enterprise security controls and GenAI adoption. By enforcing authentication, filtering sensitive data, blocking injection threats, and generating detailed logs, organizations can safely embrace LLM technologies while meeting legal and regulatory mandates. This project successfully models clean architecture and security standards for enterprise AI applications. Thank you, and I am happy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32720" cy="1645920"/>
          </a:xfrm>
          <a:prstGeom prst="rect">
            <a:avLst/>
          </a:prstGeom>
          <a:noFill/>
        </p:spPr>
        <p:txBody>
          <a:bodyPr wrap="square">
            <a:spAutoFit/>
          </a:bodyPr>
          <a:lstStyle/>
          <a:p>
            <a:pPr>
              <a:defRPr sz="5400" b="1">
                <a:solidFill>
                  <a:srgbClr val="06B6D4"/>
                </a:solidFill>
                <a:latin typeface="Segoe UI"/>
              </a:defRPr>
            </a:pPr>
            <a:r>
              <a:t>LLM-Defanc</a:t>
            </a:r>
          </a:p>
          <a:p>
            <a:pPr>
              <a:defRPr sz="3600" b="1">
                <a:solidFill>
                  <a:srgbClr val="FFFFFF"/>
                </a:solidFill>
                <a:latin typeface="Segoe UI"/>
              </a:defRPr>
            </a:pPr>
            <a:r>
              <a:t>Enterprise LLM &amp; GenAI Security Gateway</a:t>
            </a:r>
          </a:p>
        </p:txBody>
      </p:sp>
      <p:sp>
        <p:nvSpPr>
          <p:cNvPr id="4" name="TextBox 3"/>
          <p:cNvSpPr txBox="1"/>
          <p:nvPr/>
        </p:nvSpPr>
        <p:spPr>
          <a:xfrm>
            <a:off x="914400" y="3840480"/>
            <a:ext cx="10332720" cy="731520"/>
          </a:xfrm>
          <a:prstGeom prst="rect">
            <a:avLst/>
          </a:prstGeom>
          <a:noFill/>
        </p:spPr>
        <p:txBody>
          <a:bodyPr wrap="square">
            <a:spAutoFit/>
          </a:bodyPr>
          <a:lstStyle/>
          <a:p>
            <a:pPr>
              <a:defRPr sz="1800">
                <a:solidFill>
                  <a:srgbClr val="B0B4CF"/>
                </a:solidFill>
                <a:latin typeface="Segoe UI"/>
              </a:defRPr>
            </a:pPr>
            <a:r>
              <a:t>Enterprise AI Firewall for Secure Large Language Model Access</a:t>
            </a:r>
          </a:p>
        </p:txBody>
      </p:sp>
      <p:sp>
        <p:nvSpPr>
          <p:cNvPr id="5" name="TextBox 4"/>
          <p:cNvSpPr txBox="1"/>
          <p:nvPr/>
        </p:nvSpPr>
        <p:spPr>
          <a:xfrm>
            <a:off x="914400" y="5120640"/>
            <a:ext cx="10332720" cy="1097280"/>
          </a:xfrm>
          <a:prstGeom prst="rect">
            <a:avLst/>
          </a:prstGeom>
          <a:noFill/>
        </p:spPr>
        <p:txBody>
          <a:bodyPr wrap="none">
            <a:spAutoFit/>
          </a:bodyPr>
          <a:lstStyle/>
          <a:p>
            <a:pPr>
              <a:defRPr sz="1600" b="1">
                <a:solidFill>
                  <a:srgbClr val="8B5CF6"/>
                </a:solidFill>
                <a:latin typeface="Segoe UI"/>
              </a:defRPr>
            </a:pPr>
            <a:r>
              <a:t>Prepared by: Pankaj Mourya</a:t>
            </a:r>
          </a:p>
          <a:p>
            <a:pPr>
              <a:defRPr sz="1400">
                <a:solidFill>
                  <a:srgbClr val="B0B4CF"/>
                </a:solidFill>
                <a:latin typeface="Segoe UI"/>
              </a:defRPr>
            </a:pPr>
            <a:r>
              <a:t>Cyber Security Intern | Final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a:spAutoFit/>
          </a:bodyPr>
          <a:lstStyle/>
          <a:p>
            <a:pPr>
              <a:defRPr sz="1000" b="1">
                <a:solidFill>
                  <a:srgbClr val="8B5CF6"/>
                </a:solidFill>
                <a:latin typeface="Segoe UI"/>
              </a:defRPr>
            </a:pPr>
            <a:r>
              <a:t>LLM-DEFANC</a:t>
            </a:r>
          </a:p>
        </p:txBody>
      </p:sp>
      <p:sp>
        <p:nvSpPr>
          <p:cNvPr id="3" name="TextBox 2"/>
          <p:cNvSpPr txBox="1"/>
          <p:nvPr/>
        </p:nvSpPr>
        <p:spPr>
          <a:xfrm>
            <a:off x="548640" y="548640"/>
            <a:ext cx="10972800" cy="731520"/>
          </a:xfrm>
          <a:prstGeom prst="rect">
            <a:avLst/>
          </a:prstGeom>
          <a:noFill/>
        </p:spPr>
        <p:txBody>
          <a:bodyPr wrap="square">
            <a:spAutoFit/>
          </a:bodyPr>
          <a:lstStyle/>
          <a:p>
            <a:pPr>
              <a:defRPr sz="2800" b="1">
                <a:solidFill>
                  <a:srgbClr val="FFFFFF"/>
                </a:solidFill>
                <a:latin typeface="Segoe UI"/>
              </a:defRPr>
            </a:pPr>
            <a:r>
              <a:t>Agenda</a:t>
            </a:r>
          </a:p>
        </p:txBody>
      </p:sp>
      <p:sp>
        <p:nvSpPr>
          <p:cNvPr id="4" name="Rectangle 3"/>
          <p:cNvSpPr/>
          <p:nvPr/>
        </p:nvSpPr>
        <p:spPr>
          <a:xfrm>
            <a:off x="548640" y="1280160"/>
            <a:ext cx="10972800" cy="18288"/>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828800"/>
            <a:ext cx="548640" cy="5486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1</a:t>
            </a:r>
          </a:p>
        </p:txBody>
      </p:sp>
      <p:sp>
        <p:nvSpPr>
          <p:cNvPr id="6" name="TextBox 5"/>
          <p:cNvSpPr txBox="1"/>
          <p:nvPr/>
        </p:nvSpPr>
        <p:spPr>
          <a:xfrm>
            <a:off x="1463040" y="1828800"/>
            <a:ext cx="4389120" cy="548640"/>
          </a:xfrm>
          <a:prstGeom prst="rect">
            <a:avLst/>
          </a:prstGeom>
          <a:noFill/>
        </p:spPr>
        <p:txBody>
          <a:bodyPr wrap="none">
            <a:spAutoFit/>
          </a:bodyPr>
          <a:lstStyle/>
          <a:p>
            <a:pPr>
              <a:defRPr sz="1800" b="1">
                <a:solidFill>
                  <a:srgbClr val="FFFFFF"/>
                </a:solidFill>
                <a:latin typeface="Segoe UI"/>
              </a:defRPr>
            </a:pPr>
            <a:r>
              <a:t>Problem Statement</a:t>
            </a:r>
          </a:p>
        </p:txBody>
      </p:sp>
      <p:sp>
        <p:nvSpPr>
          <p:cNvPr id="7" name="Rounded Rectangle 6"/>
          <p:cNvSpPr/>
          <p:nvPr/>
        </p:nvSpPr>
        <p:spPr>
          <a:xfrm>
            <a:off x="731520" y="2560320"/>
            <a:ext cx="548640" cy="5486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2</a:t>
            </a:r>
          </a:p>
        </p:txBody>
      </p:sp>
      <p:sp>
        <p:nvSpPr>
          <p:cNvPr id="8" name="TextBox 7"/>
          <p:cNvSpPr txBox="1"/>
          <p:nvPr/>
        </p:nvSpPr>
        <p:spPr>
          <a:xfrm>
            <a:off x="1463040" y="2560320"/>
            <a:ext cx="4389120" cy="548640"/>
          </a:xfrm>
          <a:prstGeom prst="rect">
            <a:avLst/>
          </a:prstGeom>
          <a:noFill/>
        </p:spPr>
        <p:txBody>
          <a:bodyPr wrap="none">
            <a:spAutoFit/>
          </a:bodyPr>
          <a:lstStyle/>
          <a:p>
            <a:pPr>
              <a:defRPr sz="1800" b="1">
                <a:solidFill>
                  <a:srgbClr val="FFFFFF"/>
                </a:solidFill>
                <a:latin typeface="Segoe UI"/>
              </a:defRPr>
            </a:pPr>
            <a:r>
              <a:t>Existing Challenges</a:t>
            </a:r>
          </a:p>
        </p:txBody>
      </p:sp>
      <p:sp>
        <p:nvSpPr>
          <p:cNvPr id="9" name="Rounded Rectangle 8"/>
          <p:cNvSpPr/>
          <p:nvPr/>
        </p:nvSpPr>
        <p:spPr>
          <a:xfrm>
            <a:off x="731520" y="3291840"/>
            <a:ext cx="548640" cy="5486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3</a:t>
            </a:r>
          </a:p>
        </p:txBody>
      </p:sp>
      <p:sp>
        <p:nvSpPr>
          <p:cNvPr id="10" name="TextBox 9"/>
          <p:cNvSpPr txBox="1"/>
          <p:nvPr/>
        </p:nvSpPr>
        <p:spPr>
          <a:xfrm>
            <a:off x="1463040" y="3291840"/>
            <a:ext cx="4389120" cy="548640"/>
          </a:xfrm>
          <a:prstGeom prst="rect">
            <a:avLst/>
          </a:prstGeom>
          <a:noFill/>
        </p:spPr>
        <p:txBody>
          <a:bodyPr wrap="none">
            <a:spAutoFit/>
          </a:bodyPr>
          <a:lstStyle/>
          <a:p>
            <a:pPr>
              <a:defRPr sz="1800" b="1">
                <a:solidFill>
                  <a:srgbClr val="FFFFFF"/>
                </a:solidFill>
                <a:latin typeface="Segoe UI"/>
              </a:defRPr>
            </a:pPr>
            <a:r>
              <a:t>Proposed Solution</a:t>
            </a:r>
          </a:p>
        </p:txBody>
      </p:sp>
      <p:sp>
        <p:nvSpPr>
          <p:cNvPr id="11" name="Rounded Rectangle 10"/>
          <p:cNvSpPr/>
          <p:nvPr/>
        </p:nvSpPr>
        <p:spPr>
          <a:xfrm>
            <a:off x="731520" y="4023360"/>
            <a:ext cx="548640" cy="5486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4</a:t>
            </a:r>
          </a:p>
        </p:txBody>
      </p:sp>
      <p:sp>
        <p:nvSpPr>
          <p:cNvPr id="12" name="TextBox 11"/>
          <p:cNvSpPr txBox="1"/>
          <p:nvPr/>
        </p:nvSpPr>
        <p:spPr>
          <a:xfrm>
            <a:off x="1463040" y="4023360"/>
            <a:ext cx="4389120" cy="548640"/>
          </a:xfrm>
          <a:prstGeom prst="rect">
            <a:avLst/>
          </a:prstGeom>
          <a:noFill/>
        </p:spPr>
        <p:txBody>
          <a:bodyPr wrap="none">
            <a:spAutoFit/>
          </a:bodyPr>
          <a:lstStyle/>
          <a:p>
            <a:pPr>
              <a:defRPr sz="1800" b="1">
                <a:solidFill>
                  <a:srgbClr val="FFFFFF"/>
                </a:solidFill>
                <a:latin typeface="Segoe UI"/>
              </a:defRPr>
            </a:pPr>
            <a:r>
              <a:t>System Architecture</a:t>
            </a:r>
          </a:p>
        </p:txBody>
      </p:sp>
      <p:sp>
        <p:nvSpPr>
          <p:cNvPr id="13" name="Rounded Rectangle 12"/>
          <p:cNvSpPr/>
          <p:nvPr/>
        </p:nvSpPr>
        <p:spPr>
          <a:xfrm>
            <a:off x="731520" y="4754880"/>
            <a:ext cx="548640" cy="5486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5</a:t>
            </a:r>
          </a:p>
        </p:txBody>
      </p:sp>
      <p:sp>
        <p:nvSpPr>
          <p:cNvPr id="14" name="TextBox 13"/>
          <p:cNvSpPr txBox="1"/>
          <p:nvPr/>
        </p:nvSpPr>
        <p:spPr>
          <a:xfrm>
            <a:off x="1463040" y="4754880"/>
            <a:ext cx="4389120" cy="548640"/>
          </a:xfrm>
          <a:prstGeom prst="rect">
            <a:avLst/>
          </a:prstGeom>
          <a:noFill/>
        </p:spPr>
        <p:txBody>
          <a:bodyPr wrap="none">
            <a:spAutoFit/>
          </a:bodyPr>
          <a:lstStyle/>
          <a:p>
            <a:pPr>
              <a:defRPr sz="1800" b="1">
                <a:solidFill>
                  <a:srgbClr val="FFFFFF"/>
                </a:solidFill>
                <a:latin typeface="Segoe UI"/>
              </a:defRPr>
            </a:pPr>
            <a:r>
              <a:t>Technology Stack</a:t>
            </a:r>
          </a:p>
        </p:txBody>
      </p:sp>
      <p:sp>
        <p:nvSpPr>
          <p:cNvPr id="15" name="Rounded Rectangle 14"/>
          <p:cNvSpPr/>
          <p:nvPr/>
        </p:nvSpPr>
        <p:spPr>
          <a:xfrm>
            <a:off x="731520" y="5486400"/>
            <a:ext cx="548640" cy="5486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6</a:t>
            </a:r>
          </a:p>
        </p:txBody>
      </p:sp>
      <p:sp>
        <p:nvSpPr>
          <p:cNvPr id="16" name="TextBox 15"/>
          <p:cNvSpPr txBox="1"/>
          <p:nvPr/>
        </p:nvSpPr>
        <p:spPr>
          <a:xfrm>
            <a:off x="1463040" y="5486400"/>
            <a:ext cx="4389120" cy="548640"/>
          </a:xfrm>
          <a:prstGeom prst="rect">
            <a:avLst/>
          </a:prstGeom>
          <a:noFill/>
        </p:spPr>
        <p:txBody>
          <a:bodyPr wrap="none">
            <a:spAutoFit/>
          </a:bodyPr>
          <a:lstStyle/>
          <a:p>
            <a:pPr>
              <a:defRPr sz="1800" b="1">
                <a:solidFill>
                  <a:srgbClr val="FFFFFF"/>
                </a:solidFill>
                <a:latin typeface="Segoe UI"/>
              </a:defRPr>
            </a:pPr>
            <a:r>
              <a:t>Project Workflow</a:t>
            </a:r>
          </a:p>
        </p:txBody>
      </p:sp>
      <p:sp>
        <p:nvSpPr>
          <p:cNvPr id="17" name="Rounded Rectangle 16"/>
          <p:cNvSpPr/>
          <p:nvPr/>
        </p:nvSpPr>
        <p:spPr>
          <a:xfrm>
            <a:off x="6217920" y="1828800"/>
            <a:ext cx="548640" cy="5486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7</a:t>
            </a:r>
          </a:p>
        </p:txBody>
      </p:sp>
      <p:sp>
        <p:nvSpPr>
          <p:cNvPr id="18" name="TextBox 17"/>
          <p:cNvSpPr txBox="1"/>
          <p:nvPr/>
        </p:nvSpPr>
        <p:spPr>
          <a:xfrm>
            <a:off x="6949440" y="1828800"/>
            <a:ext cx="4389120" cy="548640"/>
          </a:xfrm>
          <a:prstGeom prst="rect">
            <a:avLst/>
          </a:prstGeom>
          <a:noFill/>
        </p:spPr>
        <p:txBody>
          <a:bodyPr wrap="none">
            <a:spAutoFit/>
          </a:bodyPr>
          <a:lstStyle/>
          <a:p>
            <a:pPr>
              <a:defRPr sz="1800" b="1">
                <a:solidFill>
                  <a:srgbClr val="FFFFFF"/>
                </a:solidFill>
                <a:latin typeface="Segoe UI"/>
              </a:defRPr>
            </a:pPr>
            <a:r>
              <a:t>Core Features</a:t>
            </a:r>
          </a:p>
        </p:txBody>
      </p:sp>
      <p:sp>
        <p:nvSpPr>
          <p:cNvPr id="19" name="Rounded Rectangle 18"/>
          <p:cNvSpPr/>
          <p:nvPr/>
        </p:nvSpPr>
        <p:spPr>
          <a:xfrm>
            <a:off x="6217920" y="2560320"/>
            <a:ext cx="548640" cy="5486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8</a:t>
            </a:r>
          </a:p>
        </p:txBody>
      </p:sp>
      <p:sp>
        <p:nvSpPr>
          <p:cNvPr id="20" name="TextBox 19"/>
          <p:cNvSpPr txBox="1"/>
          <p:nvPr/>
        </p:nvSpPr>
        <p:spPr>
          <a:xfrm>
            <a:off x="6949440" y="2560320"/>
            <a:ext cx="4389120" cy="548640"/>
          </a:xfrm>
          <a:prstGeom prst="rect">
            <a:avLst/>
          </a:prstGeom>
          <a:noFill/>
        </p:spPr>
        <p:txBody>
          <a:bodyPr wrap="none">
            <a:spAutoFit/>
          </a:bodyPr>
          <a:lstStyle/>
          <a:p>
            <a:pPr>
              <a:defRPr sz="1800" b="1">
                <a:solidFill>
                  <a:srgbClr val="FFFFFF"/>
                </a:solidFill>
                <a:latin typeface="Segoe UI"/>
              </a:defRPr>
            </a:pPr>
            <a:r>
              <a:t>Security Modules</a:t>
            </a:r>
          </a:p>
        </p:txBody>
      </p:sp>
      <p:sp>
        <p:nvSpPr>
          <p:cNvPr id="21" name="Rounded Rectangle 20"/>
          <p:cNvSpPr/>
          <p:nvPr/>
        </p:nvSpPr>
        <p:spPr>
          <a:xfrm>
            <a:off x="6217920" y="3291840"/>
            <a:ext cx="548640" cy="5486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9</a:t>
            </a:r>
          </a:p>
        </p:txBody>
      </p:sp>
      <p:sp>
        <p:nvSpPr>
          <p:cNvPr id="22" name="TextBox 21"/>
          <p:cNvSpPr txBox="1"/>
          <p:nvPr/>
        </p:nvSpPr>
        <p:spPr>
          <a:xfrm>
            <a:off x="6949440" y="3291840"/>
            <a:ext cx="4389120" cy="548640"/>
          </a:xfrm>
          <a:prstGeom prst="rect">
            <a:avLst/>
          </a:prstGeom>
          <a:noFill/>
        </p:spPr>
        <p:txBody>
          <a:bodyPr wrap="none">
            <a:spAutoFit/>
          </a:bodyPr>
          <a:lstStyle/>
          <a:p>
            <a:pPr>
              <a:defRPr sz="1800" b="1">
                <a:solidFill>
                  <a:srgbClr val="FFFFFF"/>
                </a:solidFill>
                <a:latin typeface="Segoe UI"/>
              </a:defRPr>
            </a:pPr>
            <a:r>
              <a:t>API Design</a:t>
            </a:r>
          </a:p>
        </p:txBody>
      </p:sp>
      <p:sp>
        <p:nvSpPr>
          <p:cNvPr id="23" name="Rounded Rectangle 22"/>
          <p:cNvSpPr/>
          <p:nvPr/>
        </p:nvSpPr>
        <p:spPr>
          <a:xfrm>
            <a:off x="6217920" y="4023360"/>
            <a:ext cx="548640" cy="5486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10</a:t>
            </a:r>
          </a:p>
        </p:txBody>
      </p:sp>
      <p:sp>
        <p:nvSpPr>
          <p:cNvPr id="24" name="TextBox 23"/>
          <p:cNvSpPr txBox="1"/>
          <p:nvPr/>
        </p:nvSpPr>
        <p:spPr>
          <a:xfrm>
            <a:off x="6949440" y="4023360"/>
            <a:ext cx="4389120" cy="548640"/>
          </a:xfrm>
          <a:prstGeom prst="rect">
            <a:avLst/>
          </a:prstGeom>
          <a:noFill/>
        </p:spPr>
        <p:txBody>
          <a:bodyPr wrap="none">
            <a:spAutoFit/>
          </a:bodyPr>
          <a:lstStyle/>
          <a:p>
            <a:pPr>
              <a:defRPr sz="1800" b="1">
                <a:solidFill>
                  <a:srgbClr val="FFFFFF"/>
                </a:solidFill>
                <a:latin typeface="Segoe UI"/>
              </a:defRPr>
            </a:pPr>
            <a:r>
              <a:t>Dashboard &amp; Analytics</a:t>
            </a:r>
          </a:p>
        </p:txBody>
      </p:sp>
      <p:sp>
        <p:nvSpPr>
          <p:cNvPr id="25" name="Rounded Rectangle 24"/>
          <p:cNvSpPr/>
          <p:nvPr/>
        </p:nvSpPr>
        <p:spPr>
          <a:xfrm>
            <a:off x="6217920" y="4754880"/>
            <a:ext cx="548640" cy="5486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11</a:t>
            </a:r>
          </a:p>
        </p:txBody>
      </p:sp>
      <p:sp>
        <p:nvSpPr>
          <p:cNvPr id="26" name="TextBox 25"/>
          <p:cNvSpPr txBox="1"/>
          <p:nvPr/>
        </p:nvSpPr>
        <p:spPr>
          <a:xfrm>
            <a:off x="6949440" y="4754880"/>
            <a:ext cx="4389120" cy="548640"/>
          </a:xfrm>
          <a:prstGeom prst="rect">
            <a:avLst/>
          </a:prstGeom>
          <a:noFill/>
        </p:spPr>
        <p:txBody>
          <a:bodyPr wrap="none">
            <a:spAutoFit/>
          </a:bodyPr>
          <a:lstStyle/>
          <a:p>
            <a:pPr>
              <a:defRPr sz="1800" b="1">
                <a:solidFill>
                  <a:srgbClr val="FFFFFF"/>
                </a:solidFill>
                <a:latin typeface="Segoe UI"/>
              </a:defRPr>
            </a:pPr>
            <a:r>
              <a:t>Future Enhancements</a:t>
            </a:r>
          </a:p>
        </p:txBody>
      </p:sp>
      <p:sp>
        <p:nvSpPr>
          <p:cNvPr id="27" name="Rounded Rectangle 26"/>
          <p:cNvSpPr/>
          <p:nvPr/>
        </p:nvSpPr>
        <p:spPr>
          <a:xfrm>
            <a:off x="6217920" y="5486400"/>
            <a:ext cx="548640" cy="5486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12</a:t>
            </a:r>
          </a:p>
        </p:txBody>
      </p:sp>
      <p:sp>
        <p:nvSpPr>
          <p:cNvPr id="28" name="TextBox 27"/>
          <p:cNvSpPr txBox="1"/>
          <p:nvPr/>
        </p:nvSpPr>
        <p:spPr>
          <a:xfrm>
            <a:off x="6949440" y="5486400"/>
            <a:ext cx="4389120" cy="548640"/>
          </a:xfrm>
          <a:prstGeom prst="rect">
            <a:avLst/>
          </a:prstGeom>
          <a:noFill/>
        </p:spPr>
        <p:txBody>
          <a:bodyPr wrap="none">
            <a:spAutoFit/>
          </a:bodyPr>
          <a:lstStyle/>
          <a:p>
            <a:pPr>
              <a:defRPr sz="1800" b="1">
                <a:solidFill>
                  <a:srgbClr val="FFFFFF"/>
                </a:solidFill>
                <a:latin typeface="Segoe UI"/>
              </a:defRPr>
            </a:pPr>
            <a:r>
              <a:t>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a:spAutoFit/>
          </a:bodyPr>
          <a:lstStyle/>
          <a:p>
            <a:pPr>
              <a:defRPr sz="1000" b="1">
                <a:solidFill>
                  <a:srgbClr val="8B5CF6"/>
                </a:solidFill>
                <a:latin typeface="Segoe UI"/>
              </a:defRPr>
            </a:pPr>
            <a:r>
              <a:t>LLM-DEFANC</a:t>
            </a:r>
          </a:p>
        </p:txBody>
      </p:sp>
      <p:sp>
        <p:nvSpPr>
          <p:cNvPr id="3" name="TextBox 2"/>
          <p:cNvSpPr txBox="1"/>
          <p:nvPr/>
        </p:nvSpPr>
        <p:spPr>
          <a:xfrm>
            <a:off x="548640" y="548640"/>
            <a:ext cx="10972800" cy="731520"/>
          </a:xfrm>
          <a:prstGeom prst="rect">
            <a:avLst/>
          </a:prstGeom>
          <a:noFill/>
        </p:spPr>
        <p:txBody>
          <a:bodyPr wrap="square">
            <a:spAutoFit/>
          </a:bodyPr>
          <a:lstStyle/>
          <a:p>
            <a:pPr>
              <a:defRPr sz="2800" b="1">
                <a:solidFill>
                  <a:srgbClr val="FFFFFF"/>
                </a:solidFill>
                <a:latin typeface="Segoe UI"/>
              </a:defRPr>
            </a:pPr>
            <a:r>
              <a:t>The Problem: Unregulated Enterprise AI Access</a:t>
            </a:r>
          </a:p>
        </p:txBody>
      </p:sp>
      <p:sp>
        <p:nvSpPr>
          <p:cNvPr id="4" name="Rectangle 3"/>
          <p:cNvSpPr/>
          <p:nvPr/>
        </p:nvSpPr>
        <p:spPr>
          <a:xfrm>
            <a:off x="548640" y="1280160"/>
            <a:ext cx="10972800" cy="18288"/>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0"/>
            <a:ext cx="5029200" cy="4572000"/>
          </a:xfrm>
          <a:prstGeom prst="rect">
            <a:avLst/>
          </a:prstGeom>
          <a:noFill/>
        </p:spPr>
        <p:txBody>
          <a:bodyPr wrap="square">
            <a:spAutoFit/>
          </a:bodyPr>
          <a:lstStyle/>
          <a:p>
            <a:pPr>
              <a:defRPr sz="2200" b="1">
                <a:solidFill>
                  <a:srgbClr val="06B6D4"/>
                </a:solidFill>
                <a:latin typeface="Segoe UI"/>
              </a:defRPr>
            </a:pPr>
            <a:r>
              <a:t>The Rise of Generative AI</a:t>
            </a:r>
          </a:p>
          <a:p>
            <a:pPr>
              <a:spcBef>
                <a:spcPts val="1400"/>
              </a:spcBef>
              <a:defRPr sz="1600">
                <a:solidFill>
                  <a:srgbClr val="B0B4CF"/>
                </a:solidFill>
                <a:latin typeface="Segoe UI"/>
              </a:defRPr>
            </a:pPr>
            <a:r>
              <a:t>Organizations are rapidly adopting Generative AI to boost productivity. However, giving employees direct, unmonitored access to public LLMs introduces severe operational, security, and legal vulnerabilities.</a:t>
            </a:r>
          </a:p>
        </p:txBody>
      </p:sp>
      <p:sp>
        <p:nvSpPr>
          <p:cNvPr id="6" name="Rounded Rectangle 5"/>
          <p:cNvSpPr/>
          <p:nvPr/>
        </p:nvSpPr>
        <p:spPr>
          <a:xfrm>
            <a:off x="6035040" y="1645920"/>
            <a:ext cx="5577840" cy="91440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172200" y="1783080"/>
            <a:ext cx="640080" cy="64008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a:pPr>
            <a:r>
              <a:t>⚠️</a:t>
            </a:r>
          </a:p>
        </p:txBody>
      </p:sp>
      <p:sp>
        <p:nvSpPr>
          <p:cNvPr id="8" name="TextBox 7"/>
          <p:cNvSpPr txBox="1"/>
          <p:nvPr/>
        </p:nvSpPr>
        <p:spPr>
          <a:xfrm>
            <a:off x="6949440" y="1691640"/>
            <a:ext cx="4572000" cy="822960"/>
          </a:xfrm>
          <a:prstGeom prst="rect">
            <a:avLst/>
          </a:prstGeom>
          <a:noFill/>
        </p:spPr>
        <p:txBody>
          <a:bodyPr wrap="square">
            <a:spAutoFit/>
          </a:bodyPr>
          <a:lstStyle/>
          <a:p>
            <a:pPr>
              <a:defRPr sz="1300">
                <a:latin typeface="Segoe UI"/>
              </a:defRPr>
            </a:pPr>
            <a:r>
              <a:rPr b="1">
                <a:solidFill>
                  <a:srgbClr val="FFFFFF"/>
                </a:solidFill>
              </a:rPr>
              <a:t>Data Leakage Risk: </a:t>
            </a:r>
            <a:r>
              <a:rPr>
                <a:solidFill>
                  <a:srgbClr val="B0B4CF"/>
                </a:solidFill>
              </a:rPr>
              <a:t>Employees inadvertently pasting proprietary source code, secrets, or customer data into prompts.</a:t>
            </a:r>
          </a:p>
        </p:txBody>
      </p:sp>
      <p:sp>
        <p:nvSpPr>
          <p:cNvPr id="9" name="Rounded Rectangle 8"/>
          <p:cNvSpPr/>
          <p:nvPr/>
        </p:nvSpPr>
        <p:spPr>
          <a:xfrm>
            <a:off x="6035040" y="2743200"/>
            <a:ext cx="5577840" cy="91440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2880360"/>
            <a:ext cx="640080" cy="64008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a:pPr>
            <a:r>
              <a:t>⚠️</a:t>
            </a:r>
          </a:p>
        </p:txBody>
      </p:sp>
      <p:sp>
        <p:nvSpPr>
          <p:cNvPr id="11" name="TextBox 10"/>
          <p:cNvSpPr txBox="1"/>
          <p:nvPr/>
        </p:nvSpPr>
        <p:spPr>
          <a:xfrm>
            <a:off x="6949440" y="2788920"/>
            <a:ext cx="4572000" cy="822960"/>
          </a:xfrm>
          <a:prstGeom prst="rect">
            <a:avLst/>
          </a:prstGeom>
          <a:noFill/>
        </p:spPr>
        <p:txBody>
          <a:bodyPr wrap="square">
            <a:spAutoFit/>
          </a:bodyPr>
          <a:lstStyle/>
          <a:p>
            <a:pPr>
              <a:defRPr sz="1300">
                <a:latin typeface="Segoe UI"/>
              </a:defRPr>
            </a:pPr>
            <a:r>
              <a:rPr b="1">
                <a:solidFill>
                  <a:srgbClr val="FFFFFF"/>
                </a:solidFill>
              </a:rPr>
              <a:t>Prompt Injection: </a:t>
            </a:r>
            <a:r>
              <a:rPr>
                <a:solidFill>
                  <a:srgbClr val="B0B4CF"/>
                </a:solidFill>
              </a:rPr>
              <a:t>Malicious users crafting adversarial prompts designed to jailbreak safety rules and steal system data.</a:t>
            </a:r>
          </a:p>
        </p:txBody>
      </p:sp>
      <p:sp>
        <p:nvSpPr>
          <p:cNvPr id="12" name="Rounded Rectangle 11"/>
          <p:cNvSpPr/>
          <p:nvPr/>
        </p:nvSpPr>
        <p:spPr>
          <a:xfrm>
            <a:off x="6035040" y="3840480"/>
            <a:ext cx="5577840" cy="91440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3977640"/>
            <a:ext cx="640080" cy="6400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a:pPr>
            <a:r>
              <a:t>🛡️</a:t>
            </a:r>
          </a:p>
        </p:txBody>
      </p:sp>
      <p:sp>
        <p:nvSpPr>
          <p:cNvPr id="14" name="TextBox 13"/>
          <p:cNvSpPr txBox="1"/>
          <p:nvPr/>
        </p:nvSpPr>
        <p:spPr>
          <a:xfrm>
            <a:off x="6949440" y="3886200"/>
            <a:ext cx="4572000" cy="822960"/>
          </a:xfrm>
          <a:prstGeom prst="rect">
            <a:avLst/>
          </a:prstGeom>
          <a:noFill/>
        </p:spPr>
        <p:txBody>
          <a:bodyPr wrap="square">
            <a:spAutoFit/>
          </a:bodyPr>
          <a:lstStyle/>
          <a:p>
            <a:pPr>
              <a:defRPr sz="1300">
                <a:latin typeface="Segoe UI"/>
              </a:defRPr>
            </a:pPr>
            <a:r>
              <a:rPr b="1">
                <a:solidFill>
                  <a:srgbClr val="FFFFFF"/>
                </a:solidFill>
              </a:rPr>
              <a:t>Compliance Gaps: </a:t>
            </a:r>
            <a:r>
              <a:rPr>
                <a:solidFill>
                  <a:srgbClr val="B0B4CF"/>
                </a:solidFill>
              </a:rPr>
              <a:t>Lack of centralized tracking violates compliance frameworks such as GDPR, SOC2, and HIPAA.</a:t>
            </a:r>
          </a:p>
        </p:txBody>
      </p:sp>
      <p:sp>
        <p:nvSpPr>
          <p:cNvPr id="15" name="Rounded Rectangle 14"/>
          <p:cNvSpPr/>
          <p:nvPr/>
        </p:nvSpPr>
        <p:spPr>
          <a:xfrm>
            <a:off x="6035040" y="4937760"/>
            <a:ext cx="5577840" cy="91440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5074920"/>
            <a:ext cx="640080" cy="6400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a:pPr>
            <a:r>
              <a:t>🛡️</a:t>
            </a:r>
          </a:p>
        </p:txBody>
      </p:sp>
      <p:sp>
        <p:nvSpPr>
          <p:cNvPr id="17" name="TextBox 16"/>
          <p:cNvSpPr txBox="1"/>
          <p:nvPr/>
        </p:nvSpPr>
        <p:spPr>
          <a:xfrm>
            <a:off x="6949440" y="4983480"/>
            <a:ext cx="4572000" cy="822960"/>
          </a:xfrm>
          <a:prstGeom prst="rect">
            <a:avLst/>
          </a:prstGeom>
          <a:noFill/>
        </p:spPr>
        <p:txBody>
          <a:bodyPr wrap="square">
            <a:spAutoFit/>
          </a:bodyPr>
          <a:lstStyle/>
          <a:p>
            <a:pPr>
              <a:defRPr sz="1300">
                <a:latin typeface="Segoe UI"/>
              </a:defRPr>
            </a:pPr>
            <a:r>
              <a:rPr b="1">
                <a:solidFill>
                  <a:srgbClr val="FFFFFF"/>
                </a:solidFill>
              </a:rPr>
              <a:t>Lack of Visibility: </a:t>
            </a:r>
            <a:r>
              <a:rPr>
                <a:solidFill>
                  <a:srgbClr val="B0B4CF"/>
                </a:solidFill>
              </a:rPr>
              <a:t>Security operations centers have zero visibility into AI usage metrics, latency, and data flow.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a:spAutoFit/>
          </a:bodyPr>
          <a:lstStyle/>
          <a:p>
            <a:pPr>
              <a:defRPr sz="1000" b="1">
                <a:solidFill>
                  <a:srgbClr val="8B5CF6"/>
                </a:solidFill>
                <a:latin typeface="Segoe UI"/>
              </a:defRPr>
            </a:pPr>
            <a:r>
              <a:t>LLM-DEFANC</a:t>
            </a:r>
          </a:p>
        </p:txBody>
      </p:sp>
      <p:sp>
        <p:nvSpPr>
          <p:cNvPr id="3" name="TextBox 2"/>
          <p:cNvSpPr txBox="1"/>
          <p:nvPr/>
        </p:nvSpPr>
        <p:spPr>
          <a:xfrm>
            <a:off x="548640" y="548640"/>
            <a:ext cx="10972800" cy="731520"/>
          </a:xfrm>
          <a:prstGeom prst="rect">
            <a:avLst/>
          </a:prstGeom>
          <a:noFill/>
        </p:spPr>
        <p:txBody>
          <a:bodyPr wrap="square">
            <a:spAutoFit/>
          </a:bodyPr>
          <a:lstStyle/>
          <a:p>
            <a:pPr>
              <a:defRPr sz="2800" b="1">
                <a:solidFill>
                  <a:srgbClr val="FFFFFF"/>
                </a:solidFill>
                <a:latin typeface="Segoe UI"/>
              </a:defRPr>
            </a:pPr>
            <a:r>
              <a:t>Existing Challenges: The AI Blindspot</a:t>
            </a:r>
          </a:p>
        </p:txBody>
      </p:sp>
      <p:sp>
        <p:nvSpPr>
          <p:cNvPr id="4" name="Rectangle 3"/>
          <p:cNvSpPr/>
          <p:nvPr/>
        </p:nvSpPr>
        <p:spPr>
          <a:xfrm>
            <a:off x="548640" y="1280160"/>
            <a:ext cx="10972800" cy="18288"/>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828800"/>
            <a:ext cx="3566160" cy="411480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2103120"/>
            <a:ext cx="3017520" cy="5486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No PII Filters</a:t>
            </a:r>
          </a:p>
        </p:txBody>
      </p:sp>
      <p:sp>
        <p:nvSpPr>
          <p:cNvPr id="7" name="TextBox 6"/>
          <p:cNvSpPr txBox="1"/>
          <p:nvPr/>
        </p:nvSpPr>
        <p:spPr>
          <a:xfrm>
            <a:off x="822960" y="2926080"/>
            <a:ext cx="3017520" cy="2743200"/>
          </a:xfrm>
          <a:prstGeom prst="rect">
            <a:avLst/>
          </a:prstGeom>
          <a:noFill/>
        </p:spPr>
        <p:txBody>
          <a:bodyPr wrap="square">
            <a:spAutoFit/>
          </a:bodyPr>
          <a:lstStyle/>
          <a:p>
            <a:pPr>
              <a:defRPr sz="1500">
                <a:solidFill>
                  <a:srgbClr val="B0B4CF"/>
                </a:solidFill>
                <a:latin typeface="Segoe UI"/>
              </a:defRPr>
            </a:pPr>
            <a:r>
              <a:t>Public APIs ingest phone numbers, Aadhaar card IDs, and emails. Companies face regulatory audits and heavy compliance fines.</a:t>
            </a:r>
          </a:p>
        </p:txBody>
      </p:sp>
      <p:sp>
        <p:nvSpPr>
          <p:cNvPr id="8" name="Rounded Rectangle 7"/>
          <p:cNvSpPr/>
          <p:nvPr/>
        </p:nvSpPr>
        <p:spPr>
          <a:xfrm>
            <a:off x="4297679" y="1828800"/>
            <a:ext cx="3566160" cy="411480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1999" y="2103120"/>
            <a:ext cx="3017520" cy="5486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Prompt Manipulation</a:t>
            </a:r>
          </a:p>
        </p:txBody>
      </p:sp>
      <p:sp>
        <p:nvSpPr>
          <p:cNvPr id="10" name="TextBox 9"/>
          <p:cNvSpPr txBox="1"/>
          <p:nvPr/>
        </p:nvSpPr>
        <p:spPr>
          <a:xfrm>
            <a:off x="4571999" y="2926080"/>
            <a:ext cx="3017520" cy="2743200"/>
          </a:xfrm>
          <a:prstGeom prst="rect">
            <a:avLst/>
          </a:prstGeom>
          <a:noFill/>
        </p:spPr>
        <p:txBody>
          <a:bodyPr wrap="square">
            <a:spAutoFit/>
          </a:bodyPr>
          <a:lstStyle/>
          <a:p>
            <a:pPr>
              <a:defRPr sz="1500">
                <a:solidFill>
                  <a:srgbClr val="B0B4CF"/>
                </a:solidFill>
                <a:latin typeface="Segoe UI"/>
              </a:defRPr>
            </a:pPr>
            <a:r>
              <a:t>Current WAFs cannot inspect natural language prompts. Attackers manipulate models to disclose internal data structures.</a:t>
            </a:r>
          </a:p>
        </p:txBody>
      </p:sp>
      <p:sp>
        <p:nvSpPr>
          <p:cNvPr id="11" name="Rounded Rectangle 10"/>
          <p:cNvSpPr/>
          <p:nvPr/>
        </p:nvSpPr>
        <p:spPr>
          <a:xfrm>
            <a:off x="8046718" y="1828800"/>
            <a:ext cx="3566160" cy="411480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21038" y="2103120"/>
            <a:ext cx="3017520" cy="5486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Silent Operations</a:t>
            </a:r>
          </a:p>
        </p:txBody>
      </p:sp>
      <p:sp>
        <p:nvSpPr>
          <p:cNvPr id="13" name="TextBox 12"/>
          <p:cNvSpPr txBox="1"/>
          <p:nvPr/>
        </p:nvSpPr>
        <p:spPr>
          <a:xfrm>
            <a:off x="8321038" y="2926080"/>
            <a:ext cx="3017520" cy="2743200"/>
          </a:xfrm>
          <a:prstGeom prst="rect">
            <a:avLst/>
          </a:prstGeom>
          <a:noFill/>
        </p:spPr>
        <p:txBody>
          <a:bodyPr wrap="square">
            <a:spAutoFit/>
          </a:bodyPr>
          <a:lstStyle/>
          <a:p>
            <a:pPr>
              <a:defRPr sz="1500">
                <a:solidFill>
                  <a:srgbClr val="B0B4CF"/>
                </a:solidFill>
                <a:latin typeface="Segoe UI"/>
              </a:defRPr>
            </a:pPr>
            <a:r>
              <a:t>Interactions are not recorded. If data leaks, security teams cannot conduct forensics as no audit history exists.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a:spAutoFit/>
          </a:bodyPr>
          <a:lstStyle/>
          <a:p>
            <a:pPr>
              <a:defRPr sz="1000" b="1">
                <a:solidFill>
                  <a:srgbClr val="8B5CF6"/>
                </a:solidFill>
                <a:latin typeface="Segoe UI"/>
              </a:defRPr>
            </a:pPr>
            <a:r>
              <a:t>LLM-DEFANC</a:t>
            </a:r>
          </a:p>
        </p:txBody>
      </p:sp>
      <p:sp>
        <p:nvSpPr>
          <p:cNvPr id="3" name="TextBox 2"/>
          <p:cNvSpPr txBox="1"/>
          <p:nvPr/>
        </p:nvSpPr>
        <p:spPr>
          <a:xfrm>
            <a:off x="548640" y="548640"/>
            <a:ext cx="10972800" cy="731520"/>
          </a:xfrm>
          <a:prstGeom prst="rect">
            <a:avLst/>
          </a:prstGeom>
          <a:noFill/>
        </p:spPr>
        <p:txBody>
          <a:bodyPr wrap="square">
            <a:spAutoFit/>
          </a:bodyPr>
          <a:lstStyle/>
          <a:p>
            <a:pPr>
              <a:defRPr sz="2800" b="1">
                <a:solidFill>
                  <a:srgbClr val="FFFFFF"/>
                </a:solidFill>
                <a:latin typeface="Segoe UI"/>
              </a:defRPr>
            </a:pPr>
            <a:r>
              <a:t>Proposed Solution: Centralized AI Security Gateway</a:t>
            </a:r>
          </a:p>
        </p:txBody>
      </p:sp>
      <p:sp>
        <p:nvSpPr>
          <p:cNvPr id="4" name="Rectangle 3"/>
          <p:cNvSpPr/>
          <p:nvPr/>
        </p:nvSpPr>
        <p:spPr>
          <a:xfrm>
            <a:off x="548640" y="1280160"/>
            <a:ext cx="10972800" cy="18288"/>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972800" cy="548640"/>
          </a:xfrm>
          <a:prstGeom prst="rect">
            <a:avLst/>
          </a:prstGeom>
          <a:noFill/>
        </p:spPr>
        <p:txBody>
          <a:bodyPr wrap="none">
            <a:spAutoFit/>
          </a:bodyPr>
          <a:lstStyle/>
          <a:p>
            <a:pPr>
              <a:defRPr sz="1800" b="1">
                <a:solidFill>
                  <a:srgbClr val="06B6D4"/>
                </a:solidFill>
                <a:latin typeface="Segoe UI"/>
              </a:defRPr>
            </a:pPr>
            <a:r>
              <a:t>LLM-Defanc acts as an inline, reverse proxy protecting all outbound LLM traffic.</a:t>
            </a:r>
          </a:p>
        </p:txBody>
      </p:sp>
      <p:sp>
        <p:nvSpPr>
          <p:cNvPr id="6" name="Rounded Rectangle 5"/>
          <p:cNvSpPr/>
          <p:nvPr/>
        </p:nvSpPr>
        <p:spPr>
          <a:xfrm>
            <a:off x="548640" y="2377440"/>
            <a:ext cx="1371600" cy="1645920"/>
          </a:xfrm>
          <a:prstGeom prst="roundRect">
            <a:avLst/>
          </a:prstGeom>
          <a:solidFill>
            <a:srgbClr val="181C38"/>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User</a:t>
            </a:r>
          </a:p>
          <a:p>
            <a:pPr algn="ctr">
              <a:spcBef>
                <a:spcPts val="800"/>
              </a:spcBef>
              <a:defRPr sz="1100">
                <a:solidFill>
                  <a:srgbClr val="B0B4CF"/>
                </a:solidFill>
                <a:latin typeface="Segoe UI"/>
              </a:defRPr>
            </a:pPr>
            <a:r>
              <a:t>Client Request</a:t>
            </a:r>
          </a:p>
        </p:txBody>
      </p:sp>
      <p:sp>
        <p:nvSpPr>
          <p:cNvPr id="7" name="Right Arrow 6"/>
          <p:cNvSpPr/>
          <p:nvPr/>
        </p:nvSpPr>
        <p:spPr>
          <a:xfrm>
            <a:off x="1965960" y="3017520"/>
            <a:ext cx="137160" cy="365760"/>
          </a:xfrm>
          <a:prstGeom prst="rightArrow">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148840" y="2377440"/>
            <a:ext cx="1371600" cy="1645920"/>
          </a:xfrm>
          <a:prstGeom prst="roundRect">
            <a:avLst/>
          </a:prstGeom>
          <a:solidFill>
            <a:srgbClr val="181C38"/>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Auth Layer</a:t>
            </a:r>
          </a:p>
          <a:p>
            <a:pPr algn="ctr">
              <a:spcBef>
                <a:spcPts val="800"/>
              </a:spcBef>
              <a:defRPr sz="1100">
                <a:solidFill>
                  <a:srgbClr val="B0B4CF"/>
                </a:solidFill>
                <a:latin typeface="Segoe UI"/>
              </a:defRPr>
            </a:pPr>
            <a:r>
              <a:t>JWT / API Keys</a:t>
            </a:r>
          </a:p>
        </p:txBody>
      </p:sp>
      <p:sp>
        <p:nvSpPr>
          <p:cNvPr id="9" name="Right Arrow 8"/>
          <p:cNvSpPr/>
          <p:nvPr/>
        </p:nvSpPr>
        <p:spPr>
          <a:xfrm>
            <a:off x="3566160" y="3017520"/>
            <a:ext cx="137160" cy="365760"/>
          </a:xfrm>
          <a:prstGeom prst="rightArrow">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749040" y="2377440"/>
            <a:ext cx="1371600" cy="1645920"/>
          </a:xfrm>
          <a:prstGeom prst="roundRect">
            <a:avLst/>
          </a:prstGeom>
          <a:solidFill>
            <a:srgbClr val="181C38"/>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PII Scan</a:t>
            </a:r>
          </a:p>
          <a:p>
            <a:pPr algn="ctr">
              <a:spcBef>
                <a:spcPts val="800"/>
              </a:spcBef>
              <a:defRPr sz="1100">
                <a:solidFill>
                  <a:srgbClr val="B0B4CF"/>
                </a:solidFill>
                <a:latin typeface="Segoe UI"/>
              </a:defRPr>
            </a:pPr>
            <a:r>
              <a:t>DLP Protection</a:t>
            </a:r>
          </a:p>
        </p:txBody>
      </p:sp>
      <p:sp>
        <p:nvSpPr>
          <p:cNvPr id="11" name="Right Arrow 10"/>
          <p:cNvSpPr/>
          <p:nvPr/>
        </p:nvSpPr>
        <p:spPr>
          <a:xfrm>
            <a:off x="5166360" y="3017520"/>
            <a:ext cx="137160" cy="365760"/>
          </a:xfrm>
          <a:prstGeom prst="rightArrow">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349240" y="2377440"/>
            <a:ext cx="1371600" cy="1645920"/>
          </a:xfrm>
          <a:prstGeom prst="roundRect">
            <a:avLst/>
          </a:prstGeom>
          <a:solidFill>
            <a:srgbClr val="181C38"/>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Prompt Guard</a:t>
            </a:r>
          </a:p>
          <a:p>
            <a:pPr algn="ctr">
              <a:spcBef>
                <a:spcPts val="800"/>
              </a:spcBef>
              <a:defRPr sz="1100">
                <a:solidFill>
                  <a:srgbClr val="B0B4CF"/>
                </a:solidFill>
                <a:latin typeface="Segoe UI"/>
              </a:defRPr>
            </a:pPr>
            <a:r>
              <a:t>Injection Shield</a:t>
            </a:r>
          </a:p>
        </p:txBody>
      </p:sp>
      <p:sp>
        <p:nvSpPr>
          <p:cNvPr id="13" name="Right Arrow 12"/>
          <p:cNvSpPr/>
          <p:nvPr/>
        </p:nvSpPr>
        <p:spPr>
          <a:xfrm>
            <a:off x="6766560" y="3017520"/>
            <a:ext cx="137160" cy="365760"/>
          </a:xfrm>
          <a:prstGeom prst="rightArrow">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949440" y="2377440"/>
            <a:ext cx="1371600" cy="1645920"/>
          </a:xfrm>
          <a:prstGeom prst="roundRect">
            <a:avLst/>
          </a:prstGeom>
          <a:solidFill>
            <a:srgbClr val="181C38"/>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Policy Engine</a:t>
            </a:r>
          </a:p>
          <a:p>
            <a:pPr algn="ctr">
              <a:spcBef>
                <a:spcPts val="800"/>
              </a:spcBef>
              <a:defRPr sz="1100">
                <a:solidFill>
                  <a:srgbClr val="B0B4CF"/>
                </a:solidFill>
                <a:latin typeface="Segoe UI"/>
              </a:defRPr>
            </a:pPr>
            <a:r>
              <a:t>Redact / Block</a:t>
            </a:r>
          </a:p>
        </p:txBody>
      </p:sp>
      <p:sp>
        <p:nvSpPr>
          <p:cNvPr id="15" name="Right Arrow 14"/>
          <p:cNvSpPr/>
          <p:nvPr/>
        </p:nvSpPr>
        <p:spPr>
          <a:xfrm>
            <a:off x="8366760" y="3017520"/>
            <a:ext cx="137160" cy="365760"/>
          </a:xfrm>
          <a:prstGeom prst="rightArrow">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549640" y="2377440"/>
            <a:ext cx="1371600" cy="1645920"/>
          </a:xfrm>
          <a:prstGeom prst="roundRect">
            <a:avLst/>
          </a:prstGeom>
          <a:solidFill>
            <a:srgbClr val="181C38"/>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Audit Logs</a:t>
            </a:r>
          </a:p>
          <a:p>
            <a:pPr algn="ctr">
              <a:spcBef>
                <a:spcPts val="800"/>
              </a:spcBef>
              <a:defRPr sz="1100">
                <a:solidFill>
                  <a:srgbClr val="B0B4CF"/>
                </a:solidFill>
                <a:latin typeface="Segoe UI"/>
              </a:defRPr>
            </a:pPr>
            <a:r>
              <a:t>Async Persistence</a:t>
            </a:r>
          </a:p>
        </p:txBody>
      </p:sp>
      <p:sp>
        <p:nvSpPr>
          <p:cNvPr id="17" name="Right Arrow 16"/>
          <p:cNvSpPr/>
          <p:nvPr/>
        </p:nvSpPr>
        <p:spPr>
          <a:xfrm>
            <a:off x="9966960" y="3017520"/>
            <a:ext cx="137160" cy="365760"/>
          </a:xfrm>
          <a:prstGeom prst="rightArrow">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49840" y="2377440"/>
            <a:ext cx="1371600" cy="1645920"/>
          </a:xfrm>
          <a:prstGeom prst="roundRect">
            <a:avLst/>
          </a:prstGeom>
          <a:solidFill>
            <a:srgbClr val="181C38"/>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LLM Provider</a:t>
            </a:r>
          </a:p>
          <a:p>
            <a:pPr algn="ctr">
              <a:spcBef>
                <a:spcPts val="800"/>
              </a:spcBef>
              <a:defRPr sz="1100">
                <a:solidFill>
                  <a:srgbClr val="B0B4CF"/>
                </a:solidFill>
                <a:latin typeface="Segoe UI"/>
              </a:defRPr>
            </a:pPr>
            <a:r>
              <a:t>Gemini / OpenAI</a:t>
            </a:r>
          </a:p>
        </p:txBody>
      </p:sp>
      <p:sp>
        <p:nvSpPr>
          <p:cNvPr id="19" name="TextBox 18"/>
          <p:cNvSpPr txBox="1"/>
          <p:nvPr/>
        </p:nvSpPr>
        <p:spPr>
          <a:xfrm>
            <a:off x="548640" y="4389120"/>
            <a:ext cx="10972800" cy="1371600"/>
          </a:xfrm>
          <a:prstGeom prst="rect">
            <a:avLst/>
          </a:prstGeom>
          <a:noFill/>
        </p:spPr>
        <p:txBody>
          <a:bodyPr wrap="square">
            <a:spAutoFit/>
          </a:bodyPr>
          <a:lstStyle/>
          <a:p>
            <a:pPr>
              <a:defRPr b="1" sz="1600">
                <a:solidFill>
                  <a:srgbClr val="FFFFFF"/>
                </a:solidFill>
              </a:defRPr>
            </a:pPr>
            <a:r>
              <a:t>Core Processing Logic:</a:t>
            </a:r>
          </a:p>
          <a:p>
            <a:pPr>
              <a:defRPr sz="1400">
                <a:latin typeface="Segoe UI"/>
              </a:defRPr>
            </a:pPr>
            <a:r>
              <a:rPr b="1">
                <a:solidFill>
                  <a:srgbClr val="06B6D4"/>
                </a:solidFill>
              </a:rPr>
              <a:t>✓ Authenticates requests </a:t>
            </a:r>
            <a:r>
              <a:rPr>
                <a:solidFill>
                  <a:srgbClr val="FFFFFF"/>
                </a:solidFill>
              </a:rPr>
              <a:t>using JWT authorization tokens.</a:t>
            </a:r>
          </a:p>
          <a:p>
            <a:pPr>
              <a:defRPr sz="1400">
                <a:latin typeface="Segoe UI"/>
              </a:defRPr>
            </a:pPr>
            <a:r>
              <a:rPr b="1">
                <a:solidFill>
                  <a:srgbClr val="06B6D4"/>
                </a:solidFill>
              </a:rPr>
              <a:t>✓ Inspects prompt content </a:t>
            </a:r>
            <a:r>
              <a:rPr>
                <a:solidFill>
                  <a:srgbClr val="FFFFFF"/>
                </a:solidFill>
              </a:rPr>
              <a:t>against rate-limit rules, PII filters, and threat signatures.</a:t>
            </a:r>
          </a:p>
          <a:p>
            <a:pPr>
              <a:defRPr sz="1400">
                <a:latin typeface="Segoe UI"/>
              </a:defRPr>
            </a:pPr>
            <a:r>
              <a:rPr b="1">
                <a:solidFill>
                  <a:srgbClr val="06B6D4"/>
                </a:solidFill>
              </a:rPr>
              <a:t>✓ Decides payload action: </a:t>
            </a:r>
            <a:r>
              <a:rPr>
                <a:solidFill>
                  <a:srgbClr val="FFFFFF"/>
                </a:solidFill>
              </a:rPr>
              <a:t>either passes redacted queries to providers or blocks queries and returns 400 Bad Request.</a:t>
            </a:r>
          </a:p>
          <a:p>
            <a:pPr>
              <a:defRPr sz="1400">
                <a:latin typeface="Segoe UI"/>
              </a:defRPr>
            </a:pPr>
            <a:r>
              <a:rPr b="1">
                <a:solidFill>
                  <a:srgbClr val="06B6D4"/>
                </a:solidFill>
              </a:rPr>
              <a:t>✓ Logs transactions in background </a:t>
            </a:r>
            <a:r>
              <a:rPr>
                <a:solidFill>
                  <a:srgbClr val="FFFFFF"/>
                </a:solidFill>
              </a:rPr>
              <a:t>to record prompts, decisions, threat levels, and latency.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a:spAutoFit/>
          </a:bodyPr>
          <a:lstStyle/>
          <a:p>
            <a:pPr>
              <a:defRPr sz="1000" b="1">
                <a:solidFill>
                  <a:srgbClr val="8B5CF6"/>
                </a:solidFill>
                <a:latin typeface="Segoe UI"/>
              </a:defRPr>
            </a:pPr>
            <a:r>
              <a:t>LLM-DEFANC</a:t>
            </a:r>
          </a:p>
        </p:txBody>
      </p:sp>
      <p:sp>
        <p:nvSpPr>
          <p:cNvPr id="3" name="TextBox 2"/>
          <p:cNvSpPr txBox="1"/>
          <p:nvPr/>
        </p:nvSpPr>
        <p:spPr>
          <a:xfrm>
            <a:off x="548640" y="548640"/>
            <a:ext cx="10972800" cy="731520"/>
          </a:xfrm>
          <a:prstGeom prst="rect">
            <a:avLst/>
          </a:prstGeom>
          <a:noFill/>
        </p:spPr>
        <p:txBody>
          <a:bodyPr wrap="square">
            <a:spAutoFit/>
          </a:bodyPr>
          <a:lstStyle/>
          <a:p>
            <a:pPr>
              <a:defRPr sz="2800" b="1">
                <a:solidFill>
                  <a:srgbClr val="FFFFFF"/>
                </a:solidFill>
                <a:latin typeface="Segoe UI"/>
              </a:defRPr>
            </a:pPr>
            <a:r>
              <a:t>Robust Technology Stack</a:t>
            </a:r>
          </a:p>
        </p:txBody>
      </p:sp>
      <p:sp>
        <p:nvSpPr>
          <p:cNvPr id="4" name="Rectangle 3"/>
          <p:cNvSpPr/>
          <p:nvPr/>
        </p:nvSpPr>
        <p:spPr>
          <a:xfrm>
            <a:off x="548640" y="1280160"/>
            <a:ext cx="10972800" cy="18288"/>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45920"/>
            <a:ext cx="2148840" cy="457200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783080"/>
            <a:ext cx="2148840" cy="457200"/>
          </a:xfrm>
          <a:prstGeom prst="rect">
            <a:avLst/>
          </a:prstGeom>
          <a:noFill/>
        </p:spPr>
        <p:txBody>
          <a:bodyPr wrap="square">
            <a:spAutoFit/>
          </a:bodyPr>
          <a:lstStyle/>
          <a:p>
            <a:pPr algn="ctr">
              <a:defRPr sz="1300" b="1">
                <a:solidFill>
                  <a:srgbClr val="8B5CF6"/>
                </a:solidFill>
                <a:latin typeface="Segoe UI"/>
              </a:defRPr>
            </a:pPr>
            <a:r>
              <a:t>Backend Framework</a:t>
            </a:r>
          </a:p>
        </p:txBody>
      </p:sp>
      <p:sp>
        <p:nvSpPr>
          <p:cNvPr id="7" name="TextBox 6"/>
          <p:cNvSpPr txBox="1"/>
          <p:nvPr/>
        </p:nvSpPr>
        <p:spPr>
          <a:xfrm>
            <a:off x="548640" y="2103120"/>
            <a:ext cx="2148840" cy="548640"/>
          </a:xfrm>
          <a:prstGeom prst="rect">
            <a:avLst/>
          </a:prstGeom>
          <a:noFill/>
        </p:spPr>
        <p:txBody>
          <a:bodyPr wrap="square">
            <a:spAutoFit/>
          </a:bodyPr>
          <a:lstStyle/>
          <a:p>
            <a:pPr algn="ctr">
              <a:defRPr sz="1600" b="1">
                <a:solidFill>
                  <a:srgbClr val="FFFFFF"/>
                </a:solidFill>
                <a:latin typeface="Segoe UI"/>
              </a:defRPr>
            </a:pPr>
            <a:r>
              <a:t>Python &amp; FastAPI</a:t>
            </a:r>
          </a:p>
        </p:txBody>
      </p:sp>
      <p:sp>
        <p:nvSpPr>
          <p:cNvPr id="8" name="TextBox 7"/>
          <p:cNvSpPr txBox="1"/>
          <p:nvPr/>
        </p:nvSpPr>
        <p:spPr>
          <a:xfrm>
            <a:off x="640080" y="2743200"/>
            <a:ext cx="1965960" cy="3291840"/>
          </a:xfrm>
          <a:prstGeom prst="rect">
            <a:avLst/>
          </a:prstGeom>
          <a:noFill/>
        </p:spPr>
        <p:txBody>
          <a:bodyPr wrap="square">
            <a:spAutoFit/>
          </a:bodyPr>
          <a:lstStyle/>
          <a:p/>
          <a:p>
            <a:pPr>
              <a:spcBef>
                <a:spcPts val="800"/>
              </a:spcBef>
              <a:defRPr sz="1200">
                <a:solidFill>
                  <a:srgbClr val="B0B4CF"/>
                </a:solidFill>
                <a:latin typeface="Segoe UI"/>
              </a:defRPr>
            </a:pPr>
            <a:r>
              <a:t>• High-performance Async</a:t>
            </a:r>
          </a:p>
          <a:p>
            <a:pPr>
              <a:spcBef>
                <a:spcPts val="800"/>
              </a:spcBef>
              <a:defRPr sz="1200">
                <a:solidFill>
                  <a:srgbClr val="B0B4CF"/>
                </a:solidFill>
                <a:latin typeface="Segoe UI"/>
              </a:defRPr>
            </a:pPr>
            <a:r>
              <a:t>• Automatic OpenAPI/Swagger docs</a:t>
            </a:r>
          </a:p>
          <a:p>
            <a:pPr>
              <a:spcBef>
                <a:spcPts val="800"/>
              </a:spcBef>
              <a:defRPr sz="1200">
                <a:solidFill>
                  <a:srgbClr val="B0B4CF"/>
                </a:solidFill>
                <a:latin typeface="Segoe UI"/>
              </a:defRPr>
            </a:pPr>
            <a:r>
              <a:t>• Stateless, fast routing</a:t>
            </a:r>
          </a:p>
        </p:txBody>
      </p:sp>
      <p:sp>
        <p:nvSpPr>
          <p:cNvPr id="9" name="Rounded Rectangle 8"/>
          <p:cNvSpPr/>
          <p:nvPr/>
        </p:nvSpPr>
        <p:spPr>
          <a:xfrm>
            <a:off x="2788920" y="1645920"/>
            <a:ext cx="2148840" cy="457200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88920" y="1783080"/>
            <a:ext cx="2148840" cy="457200"/>
          </a:xfrm>
          <a:prstGeom prst="rect">
            <a:avLst/>
          </a:prstGeom>
          <a:noFill/>
        </p:spPr>
        <p:txBody>
          <a:bodyPr wrap="square">
            <a:spAutoFit/>
          </a:bodyPr>
          <a:lstStyle/>
          <a:p>
            <a:pPr algn="ctr">
              <a:defRPr sz="1300" b="1">
                <a:solidFill>
                  <a:srgbClr val="8B5CF6"/>
                </a:solidFill>
                <a:latin typeface="Segoe UI"/>
              </a:defRPr>
            </a:pPr>
            <a:r>
              <a:t>Database &amp; Persistence</a:t>
            </a:r>
          </a:p>
        </p:txBody>
      </p:sp>
      <p:sp>
        <p:nvSpPr>
          <p:cNvPr id="11" name="TextBox 10"/>
          <p:cNvSpPr txBox="1"/>
          <p:nvPr/>
        </p:nvSpPr>
        <p:spPr>
          <a:xfrm>
            <a:off x="2788920" y="2103120"/>
            <a:ext cx="2148840" cy="548640"/>
          </a:xfrm>
          <a:prstGeom prst="rect">
            <a:avLst/>
          </a:prstGeom>
          <a:noFill/>
        </p:spPr>
        <p:txBody>
          <a:bodyPr wrap="square">
            <a:spAutoFit/>
          </a:bodyPr>
          <a:lstStyle/>
          <a:p>
            <a:pPr algn="ctr">
              <a:defRPr sz="1600" b="1">
                <a:solidFill>
                  <a:srgbClr val="FFFFFF"/>
                </a:solidFill>
                <a:latin typeface="Segoe UI"/>
              </a:defRPr>
            </a:pPr>
            <a:r>
              <a:t>PostgreSQL</a:t>
            </a:r>
          </a:p>
        </p:txBody>
      </p:sp>
      <p:sp>
        <p:nvSpPr>
          <p:cNvPr id="12" name="TextBox 11"/>
          <p:cNvSpPr txBox="1"/>
          <p:nvPr/>
        </p:nvSpPr>
        <p:spPr>
          <a:xfrm>
            <a:off x="2880360" y="2743200"/>
            <a:ext cx="1965960" cy="3291840"/>
          </a:xfrm>
          <a:prstGeom prst="rect">
            <a:avLst/>
          </a:prstGeom>
          <a:noFill/>
        </p:spPr>
        <p:txBody>
          <a:bodyPr wrap="square">
            <a:spAutoFit/>
          </a:bodyPr>
          <a:lstStyle/>
          <a:p/>
          <a:p>
            <a:pPr>
              <a:spcBef>
                <a:spcPts val="800"/>
              </a:spcBef>
              <a:defRPr sz="1200">
                <a:solidFill>
                  <a:srgbClr val="B0B4CF"/>
                </a:solidFill>
                <a:latin typeface="Segoe UI"/>
              </a:defRPr>
            </a:pPr>
            <a:r>
              <a:t>• Structured transaction history</a:t>
            </a:r>
          </a:p>
          <a:p>
            <a:pPr>
              <a:spcBef>
                <a:spcPts val="800"/>
              </a:spcBef>
              <a:defRPr sz="1200">
                <a:solidFill>
                  <a:srgbClr val="B0B4CF"/>
                </a:solidFill>
                <a:latin typeface="Segoe UI"/>
              </a:defRPr>
            </a:pPr>
            <a:r>
              <a:t>• User accounts schema</a:t>
            </a:r>
          </a:p>
          <a:p>
            <a:pPr>
              <a:spcBef>
                <a:spcPts val="800"/>
              </a:spcBef>
              <a:defRPr sz="1200">
                <a:solidFill>
                  <a:srgbClr val="B0B4CF"/>
                </a:solidFill>
                <a:latin typeface="Segoe UI"/>
              </a:defRPr>
            </a:pPr>
            <a:r>
              <a:t>• Indexed audit log logs</a:t>
            </a:r>
          </a:p>
        </p:txBody>
      </p:sp>
      <p:sp>
        <p:nvSpPr>
          <p:cNvPr id="13" name="Rounded Rectangle 12"/>
          <p:cNvSpPr/>
          <p:nvPr/>
        </p:nvSpPr>
        <p:spPr>
          <a:xfrm>
            <a:off x="5029200" y="1645920"/>
            <a:ext cx="2148840" cy="457200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0" y="1783080"/>
            <a:ext cx="2148840" cy="457200"/>
          </a:xfrm>
          <a:prstGeom prst="rect">
            <a:avLst/>
          </a:prstGeom>
          <a:noFill/>
        </p:spPr>
        <p:txBody>
          <a:bodyPr wrap="square">
            <a:spAutoFit/>
          </a:bodyPr>
          <a:lstStyle/>
          <a:p>
            <a:pPr algn="ctr">
              <a:defRPr sz="1300" b="1">
                <a:solidFill>
                  <a:srgbClr val="8B5CF6"/>
                </a:solidFill>
                <a:latin typeface="Segoe UI"/>
              </a:defRPr>
            </a:pPr>
            <a:r>
              <a:t>Cache &amp; Rate Limits</a:t>
            </a:r>
          </a:p>
        </p:txBody>
      </p:sp>
      <p:sp>
        <p:nvSpPr>
          <p:cNvPr id="15" name="TextBox 14"/>
          <p:cNvSpPr txBox="1"/>
          <p:nvPr/>
        </p:nvSpPr>
        <p:spPr>
          <a:xfrm>
            <a:off x="5029200" y="2103120"/>
            <a:ext cx="2148840" cy="548640"/>
          </a:xfrm>
          <a:prstGeom prst="rect">
            <a:avLst/>
          </a:prstGeom>
          <a:noFill/>
        </p:spPr>
        <p:txBody>
          <a:bodyPr wrap="square">
            <a:spAutoFit/>
          </a:bodyPr>
          <a:lstStyle/>
          <a:p>
            <a:pPr algn="ctr">
              <a:defRPr sz="1600" b="1">
                <a:solidFill>
                  <a:srgbClr val="FFFFFF"/>
                </a:solidFill>
                <a:latin typeface="Segoe UI"/>
              </a:defRPr>
            </a:pPr>
            <a:r>
              <a:t>Redis Cache</a:t>
            </a:r>
          </a:p>
        </p:txBody>
      </p:sp>
      <p:sp>
        <p:nvSpPr>
          <p:cNvPr id="16" name="TextBox 15"/>
          <p:cNvSpPr txBox="1"/>
          <p:nvPr/>
        </p:nvSpPr>
        <p:spPr>
          <a:xfrm>
            <a:off x="5120640" y="2743200"/>
            <a:ext cx="1965960" cy="3291840"/>
          </a:xfrm>
          <a:prstGeom prst="rect">
            <a:avLst/>
          </a:prstGeom>
          <a:noFill/>
        </p:spPr>
        <p:txBody>
          <a:bodyPr wrap="square">
            <a:spAutoFit/>
          </a:bodyPr>
          <a:lstStyle/>
          <a:p/>
          <a:p>
            <a:pPr>
              <a:spcBef>
                <a:spcPts val="800"/>
              </a:spcBef>
              <a:defRPr sz="1200">
                <a:solidFill>
                  <a:srgbClr val="B0B4CF"/>
                </a:solidFill>
                <a:latin typeface="Segoe UI"/>
              </a:defRPr>
            </a:pPr>
            <a:r>
              <a:t>• Fast sliding-window tracking</a:t>
            </a:r>
          </a:p>
          <a:p>
            <a:pPr>
              <a:spcBef>
                <a:spcPts val="800"/>
              </a:spcBef>
              <a:defRPr sz="1200">
                <a:solidFill>
                  <a:srgbClr val="B0B4CF"/>
                </a:solidFill>
                <a:latin typeface="Segoe UI"/>
              </a:defRPr>
            </a:pPr>
            <a:r>
              <a:t>• Distributed key storage</a:t>
            </a:r>
          </a:p>
          <a:p>
            <a:pPr>
              <a:spcBef>
                <a:spcPts val="800"/>
              </a:spcBef>
              <a:defRPr sz="1200">
                <a:solidFill>
                  <a:srgbClr val="B0B4CF"/>
                </a:solidFill>
                <a:latin typeface="Segoe UI"/>
              </a:defRPr>
            </a:pPr>
            <a:r>
              <a:t>• Sub-millisecond latency</a:t>
            </a:r>
          </a:p>
        </p:txBody>
      </p:sp>
      <p:sp>
        <p:nvSpPr>
          <p:cNvPr id="17" name="Rounded Rectangle 16"/>
          <p:cNvSpPr/>
          <p:nvPr/>
        </p:nvSpPr>
        <p:spPr>
          <a:xfrm>
            <a:off x="7269480" y="1645920"/>
            <a:ext cx="2148840" cy="457200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80" y="1783080"/>
            <a:ext cx="2148840" cy="457200"/>
          </a:xfrm>
          <a:prstGeom prst="rect">
            <a:avLst/>
          </a:prstGeom>
          <a:noFill/>
        </p:spPr>
        <p:txBody>
          <a:bodyPr wrap="square">
            <a:spAutoFit/>
          </a:bodyPr>
          <a:lstStyle/>
          <a:p>
            <a:pPr algn="ctr">
              <a:defRPr sz="1300" b="1">
                <a:solidFill>
                  <a:srgbClr val="8B5CF6"/>
                </a:solidFill>
                <a:latin typeface="Segoe UI"/>
              </a:defRPr>
            </a:pPr>
            <a:r>
              <a:t>Security Engines</a:t>
            </a:r>
          </a:p>
        </p:txBody>
      </p:sp>
      <p:sp>
        <p:nvSpPr>
          <p:cNvPr id="19" name="TextBox 18"/>
          <p:cNvSpPr txBox="1"/>
          <p:nvPr/>
        </p:nvSpPr>
        <p:spPr>
          <a:xfrm>
            <a:off x="7269480" y="2103120"/>
            <a:ext cx="2148840" cy="548640"/>
          </a:xfrm>
          <a:prstGeom prst="rect">
            <a:avLst/>
          </a:prstGeom>
          <a:noFill/>
        </p:spPr>
        <p:txBody>
          <a:bodyPr wrap="square">
            <a:spAutoFit/>
          </a:bodyPr>
          <a:lstStyle/>
          <a:p>
            <a:pPr algn="ctr">
              <a:defRPr sz="1600" b="1">
                <a:solidFill>
                  <a:srgbClr val="FFFFFF"/>
                </a:solidFill>
                <a:latin typeface="Segoe UI"/>
              </a:defRPr>
            </a:pPr>
            <a:r>
              <a:t>Microsoft Presidio + Heuristics</a:t>
            </a:r>
          </a:p>
        </p:txBody>
      </p:sp>
      <p:sp>
        <p:nvSpPr>
          <p:cNvPr id="20" name="TextBox 19"/>
          <p:cNvSpPr txBox="1"/>
          <p:nvPr/>
        </p:nvSpPr>
        <p:spPr>
          <a:xfrm>
            <a:off x="7360920" y="2743200"/>
            <a:ext cx="1965960" cy="3291840"/>
          </a:xfrm>
          <a:prstGeom prst="rect">
            <a:avLst/>
          </a:prstGeom>
          <a:noFill/>
        </p:spPr>
        <p:txBody>
          <a:bodyPr wrap="square">
            <a:spAutoFit/>
          </a:bodyPr>
          <a:lstStyle/>
          <a:p/>
          <a:p>
            <a:pPr>
              <a:spcBef>
                <a:spcPts val="800"/>
              </a:spcBef>
              <a:defRPr sz="1200">
                <a:solidFill>
                  <a:srgbClr val="B0B4CF"/>
                </a:solidFill>
                <a:latin typeface="Segoe UI"/>
              </a:defRPr>
            </a:pPr>
            <a:r>
              <a:t>• NLP-based entities analyzer</a:t>
            </a:r>
          </a:p>
          <a:p>
            <a:pPr>
              <a:spcBef>
                <a:spcPts val="800"/>
              </a:spcBef>
              <a:defRPr sz="1200">
                <a:solidFill>
                  <a:srgbClr val="B0B4CF"/>
                </a:solidFill>
                <a:latin typeface="Segoe UI"/>
              </a:defRPr>
            </a:pPr>
            <a:r>
              <a:t>• Luhn card validators</a:t>
            </a:r>
          </a:p>
          <a:p>
            <a:pPr>
              <a:spcBef>
                <a:spcPts val="800"/>
              </a:spcBef>
              <a:defRPr sz="1200">
                <a:solidFill>
                  <a:srgbClr val="B0B4CF"/>
                </a:solidFill>
                <a:latin typeface="Segoe UI"/>
              </a:defRPr>
            </a:pPr>
            <a:r>
              <a:t>• Regex fallback scanning</a:t>
            </a:r>
          </a:p>
        </p:txBody>
      </p:sp>
      <p:sp>
        <p:nvSpPr>
          <p:cNvPr id="21" name="Rounded Rectangle 20"/>
          <p:cNvSpPr/>
          <p:nvPr/>
        </p:nvSpPr>
        <p:spPr>
          <a:xfrm>
            <a:off x="9509760" y="1645920"/>
            <a:ext cx="2148840" cy="457200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09760" y="1783080"/>
            <a:ext cx="2148840" cy="457200"/>
          </a:xfrm>
          <a:prstGeom prst="rect">
            <a:avLst/>
          </a:prstGeom>
          <a:noFill/>
        </p:spPr>
        <p:txBody>
          <a:bodyPr wrap="square">
            <a:spAutoFit/>
          </a:bodyPr>
          <a:lstStyle/>
          <a:p>
            <a:pPr algn="ctr">
              <a:defRPr sz="1300" b="1">
                <a:solidFill>
                  <a:srgbClr val="8B5CF6"/>
                </a:solidFill>
                <a:latin typeface="Segoe UI"/>
              </a:defRPr>
            </a:pPr>
            <a:r>
              <a:t>Deployment &amp; DevOps</a:t>
            </a:r>
          </a:p>
        </p:txBody>
      </p:sp>
      <p:sp>
        <p:nvSpPr>
          <p:cNvPr id="23" name="TextBox 22"/>
          <p:cNvSpPr txBox="1"/>
          <p:nvPr/>
        </p:nvSpPr>
        <p:spPr>
          <a:xfrm>
            <a:off x="9509760" y="2103120"/>
            <a:ext cx="2148840" cy="548640"/>
          </a:xfrm>
          <a:prstGeom prst="rect">
            <a:avLst/>
          </a:prstGeom>
          <a:noFill/>
        </p:spPr>
        <p:txBody>
          <a:bodyPr wrap="square">
            <a:spAutoFit/>
          </a:bodyPr>
          <a:lstStyle/>
          <a:p>
            <a:pPr algn="ctr">
              <a:defRPr sz="1600" b="1">
                <a:solidFill>
                  <a:srgbClr val="FFFFFF"/>
                </a:solidFill>
                <a:latin typeface="Segoe UI"/>
              </a:defRPr>
            </a:pPr>
            <a:r>
              <a:t>Docker &amp; Kubernetes</a:t>
            </a:r>
          </a:p>
        </p:txBody>
      </p:sp>
      <p:sp>
        <p:nvSpPr>
          <p:cNvPr id="24" name="TextBox 23"/>
          <p:cNvSpPr txBox="1"/>
          <p:nvPr/>
        </p:nvSpPr>
        <p:spPr>
          <a:xfrm>
            <a:off x="9601200" y="2743200"/>
            <a:ext cx="1965960" cy="3291840"/>
          </a:xfrm>
          <a:prstGeom prst="rect">
            <a:avLst/>
          </a:prstGeom>
          <a:noFill/>
        </p:spPr>
        <p:txBody>
          <a:bodyPr wrap="square">
            <a:spAutoFit/>
          </a:bodyPr>
          <a:lstStyle/>
          <a:p/>
          <a:p>
            <a:pPr>
              <a:spcBef>
                <a:spcPts val="800"/>
              </a:spcBef>
              <a:defRPr sz="1200">
                <a:solidFill>
                  <a:srgbClr val="B0B4CF"/>
                </a:solidFill>
                <a:latin typeface="Segoe UI"/>
              </a:defRPr>
            </a:pPr>
            <a:r>
              <a:t>• Standardized backend containers</a:t>
            </a:r>
          </a:p>
          <a:p>
            <a:pPr>
              <a:spcBef>
                <a:spcPts val="800"/>
              </a:spcBef>
              <a:defRPr sz="1200">
                <a:solidFill>
                  <a:srgbClr val="B0B4CF"/>
                </a:solidFill>
                <a:latin typeface="Segoe UI"/>
              </a:defRPr>
            </a:pPr>
            <a:r>
              <a:t>• Multi-stage production build</a:t>
            </a:r>
          </a:p>
          <a:p>
            <a:pPr>
              <a:spcBef>
                <a:spcPts val="800"/>
              </a:spcBef>
              <a:defRPr sz="1200">
                <a:solidFill>
                  <a:srgbClr val="B0B4CF"/>
                </a:solidFill>
                <a:latin typeface="Segoe UI"/>
              </a:defRPr>
            </a:pPr>
            <a:r>
              <a:t>• Scalable orchestrations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a:spAutoFit/>
          </a:bodyPr>
          <a:lstStyle/>
          <a:p>
            <a:pPr>
              <a:defRPr sz="1000" b="1">
                <a:solidFill>
                  <a:srgbClr val="8B5CF6"/>
                </a:solidFill>
                <a:latin typeface="Segoe UI"/>
              </a:defRPr>
            </a:pPr>
            <a:r>
              <a:t>LLM-DEFANC</a:t>
            </a:r>
          </a:p>
        </p:txBody>
      </p:sp>
      <p:sp>
        <p:nvSpPr>
          <p:cNvPr id="3" name="TextBox 2"/>
          <p:cNvSpPr txBox="1"/>
          <p:nvPr/>
        </p:nvSpPr>
        <p:spPr>
          <a:xfrm>
            <a:off x="548640" y="548640"/>
            <a:ext cx="10972800" cy="731520"/>
          </a:xfrm>
          <a:prstGeom prst="rect">
            <a:avLst/>
          </a:prstGeom>
          <a:noFill/>
        </p:spPr>
        <p:txBody>
          <a:bodyPr wrap="square">
            <a:spAutoFit/>
          </a:bodyPr>
          <a:lstStyle/>
          <a:p>
            <a:pPr>
              <a:defRPr sz="2800" b="1">
                <a:solidFill>
                  <a:srgbClr val="FFFFFF"/>
                </a:solidFill>
                <a:latin typeface="Segoe UI"/>
              </a:defRPr>
            </a:pPr>
            <a:r>
              <a:t>System Workflow: Step-by-Step Lifecycle</a:t>
            </a:r>
          </a:p>
        </p:txBody>
      </p:sp>
      <p:sp>
        <p:nvSpPr>
          <p:cNvPr id="4" name="Rectangle 3"/>
          <p:cNvSpPr/>
          <p:nvPr/>
        </p:nvSpPr>
        <p:spPr>
          <a:xfrm>
            <a:off x="548640" y="1280160"/>
            <a:ext cx="10972800" cy="18288"/>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45920"/>
            <a:ext cx="5394960" cy="128016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48640" cy="5486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pPr>
            <a:r>
              <a:t>1</a:t>
            </a:r>
          </a:p>
        </p:txBody>
      </p:sp>
      <p:sp>
        <p:nvSpPr>
          <p:cNvPr id="7" name="TextBox 6"/>
          <p:cNvSpPr txBox="1"/>
          <p:nvPr/>
        </p:nvSpPr>
        <p:spPr>
          <a:xfrm>
            <a:off x="1463040" y="1783080"/>
            <a:ext cx="4297680" cy="1005840"/>
          </a:xfrm>
          <a:prstGeom prst="rect">
            <a:avLst/>
          </a:prstGeom>
          <a:noFill/>
        </p:spPr>
        <p:txBody>
          <a:bodyPr wrap="square">
            <a:spAutoFit/>
          </a:bodyPr>
          <a:lstStyle/>
          <a:p>
            <a:pPr>
              <a:defRPr sz="1600" b="1">
                <a:solidFill>
                  <a:srgbClr val="FFFFFF"/>
                </a:solidFill>
                <a:latin typeface="Segoe UI"/>
              </a:defRPr>
            </a:pPr>
            <a:r>
              <a:t>Step 1: Auth</a:t>
            </a:r>
          </a:p>
          <a:p>
            <a:pPr>
              <a:spcBef>
                <a:spcPts val="400"/>
              </a:spcBef>
              <a:defRPr sz="1300">
                <a:solidFill>
                  <a:srgbClr val="B0B4CF"/>
                </a:solidFill>
                <a:latin typeface="Segoe UI"/>
              </a:defRPr>
            </a:pPr>
            <a:r>
              <a:t>User registers &amp; logs in via REST, receiving a signed JWT access token.</a:t>
            </a:r>
          </a:p>
        </p:txBody>
      </p:sp>
      <p:sp>
        <p:nvSpPr>
          <p:cNvPr id="8" name="Rounded Rectangle 7"/>
          <p:cNvSpPr/>
          <p:nvPr/>
        </p:nvSpPr>
        <p:spPr>
          <a:xfrm>
            <a:off x="548640" y="3200400"/>
            <a:ext cx="5394960" cy="128016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3383280"/>
            <a:ext cx="548640" cy="5486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pPr>
            <a:r>
              <a:t>2</a:t>
            </a:r>
          </a:p>
        </p:txBody>
      </p:sp>
      <p:sp>
        <p:nvSpPr>
          <p:cNvPr id="10" name="TextBox 9"/>
          <p:cNvSpPr txBox="1"/>
          <p:nvPr/>
        </p:nvSpPr>
        <p:spPr>
          <a:xfrm>
            <a:off x="1463040" y="3337560"/>
            <a:ext cx="4297680" cy="1005840"/>
          </a:xfrm>
          <a:prstGeom prst="rect">
            <a:avLst/>
          </a:prstGeom>
          <a:noFill/>
        </p:spPr>
        <p:txBody>
          <a:bodyPr wrap="square">
            <a:spAutoFit/>
          </a:bodyPr>
          <a:lstStyle/>
          <a:p>
            <a:pPr>
              <a:defRPr sz="1600" b="1">
                <a:solidFill>
                  <a:srgbClr val="FFFFFF"/>
                </a:solidFill>
                <a:latin typeface="Segoe UI"/>
              </a:defRPr>
            </a:pPr>
            <a:r>
              <a:t>Step 2: Limit Check</a:t>
            </a:r>
          </a:p>
          <a:p>
            <a:pPr>
              <a:spcBef>
                <a:spcPts val="400"/>
              </a:spcBef>
              <a:defRPr sz="1300">
                <a:solidFill>
                  <a:srgbClr val="B0B4CF"/>
                </a:solidFill>
                <a:latin typeface="Segoe UI"/>
              </a:defRPr>
            </a:pPr>
            <a:r>
              <a:t>Redis sliding window verifies request count is below threshold.</a:t>
            </a:r>
          </a:p>
        </p:txBody>
      </p:sp>
      <p:sp>
        <p:nvSpPr>
          <p:cNvPr id="11" name="Rounded Rectangle 10"/>
          <p:cNvSpPr/>
          <p:nvPr/>
        </p:nvSpPr>
        <p:spPr>
          <a:xfrm>
            <a:off x="548640" y="4754880"/>
            <a:ext cx="5394960" cy="128016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4937760"/>
            <a:ext cx="548640" cy="5486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pPr>
            <a:r>
              <a:t>3</a:t>
            </a:r>
          </a:p>
        </p:txBody>
      </p:sp>
      <p:sp>
        <p:nvSpPr>
          <p:cNvPr id="13" name="TextBox 12"/>
          <p:cNvSpPr txBox="1"/>
          <p:nvPr/>
        </p:nvSpPr>
        <p:spPr>
          <a:xfrm>
            <a:off x="1463040" y="4892040"/>
            <a:ext cx="4297680" cy="1005840"/>
          </a:xfrm>
          <a:prstGeom prst="rect">
            <a:avLst/>
          </a:prstGeom>
          <a:noFill/>
        </p:spPr>
        <p:txBody>
          <a:bodyPr wrap="square">
            <a:spAutoFit/>
          </a:bodyPr>
          <a:lstStyle/>
          <a:p>
            <a:pPr>
              <a:defRPr sz="1600" b="1">
                <a:solidFill>
                  <a:srgbClr val="FFFFFF"/>
                </a:solidFill>
                <a:latin typeface="Segoe UI"/>
              </a:defRPr>
            </a:pPr>
            <a:r>
              <a:t>Step 3: DLP Scan</a:t>
            </a:r>
          </a:p>
          <a:p>
            <a:pPr>
              <a:spcBef>
                <a:spcPts val="400"/>
              </a:spcBef>
              <a:defRPr sz="1300">
                <a:solidFill>
                  <a:srgbClr val="B0B4CF"/>
                </a:solidFill>
                <a:latin typeface="Segoe UI"/>
              </a:defRPr>
            </a:pPr>
            <a:r>
              <a:t>Prompt scanned for PII; either redacted or rejected based on policy.</a:t>
            </a:r>
          </a:p>
        </p:txBody>
      </p:sp>
      <p:sp>
        <p:nvSpPr>
          <p:cNvPr id="14" name="Rounded Rectangle 13"/>
          <p:cNvSpPr/>
          <p:nvPr/>
        </p:nvSpPr>
        <p:spPr>
          <a:xfrm>
            <a:off x="6217920" y="1645920"/>
            <a:ext cx="5394960" cy="128016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0" y="1828800"/>
            <a:ext cx="548640" cy="54864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pPr>
            <a:r>
              <a:t>4</a:t>
            </a:r>
          </a:p>
        </p:txBody>
      </p:sp>
      <p:sp>
        <p:nvSpPr>
          <p:cNvPr id="16" name="TextBox 15"/>
          <p:cNvSpPr txBox="1"/>
          <p:nvPr/>
        </p:nvSpPr>
        <p:spPr>
          <a:xfrm>
            <a:off x="7132320" y="1783080"/>
            <a:ext cx="4297680" cy="1005840"/>
          </a:xfrm>
          <a:prstGeom prst="rect">
            <a:avLst/>
          </a:prstGeom>
          <a:noFill/>
        </p:spPr>
        <p:txBody>
          <a:bodyPr wrap="square">
            <a:spAutoFit/>
          </a:bodyPr>
          <a:lstStyle/>
          <a:p>
            <a:pPr>
              <a:defRPr sz="1600" b="1">
                <a:solidFill>
                  <a:srgbClr val="FFFFFF"/>
                </a:solidFill>
                <a:latin typeface="Segoe UI"/>
              </a:defRPr>
            </a:pPr>
            <a:r>
              <a:t>Step 4: Threat Check</a:t>
            </a:r>
          </a:p>
          <a:p>
            <a:pPr>
              <a:spcBef>
                <a:spcPts val="400"/>
              </a:spcBef>
              <a:defRPr sz="1300">
                <a:solidFill>
                  <a:srgbClr val="B0B4CF"/>
                </a:solidFill>
                <a:latin typeface="Segoe UI"/>
              </a:defRPr>
            </a:pPr>
            <a:r>
              <a:t>Prompt Guard analyzes text for injection indicators &amp; jailbreak rules.</a:t>
            </a:r>
          </a:p>
        </p:txBody>
      </p:sp>
      <p:sp>
        <p:nvSpPr>
          <p:cNvPr id="17" name="Rounded Rectangle 16"/>
          <p:cNvSpPr/>
          <p:nvPr/>
        </p:nvSpPr>
        <p:spPr>
          <a:xfrm>
            <a:off x="6217920" y="3200400"/>
            <a:ext cx="5394960" cy="128016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00800" y="3383280"/>
            <a:ext cx="548640" cy="54864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pPr>
            <a:r>
              <a:t>5</a:t>
            </a:r>
          </a:p>
        </p:txBody>
      </p:sp>
      <p:sp>
        <p:nvSpPr>
          <p:cNvPr id="19" name="TextBox 18"/>
          <p:cNvSpPr txBox="1"/>
          <p:nvPr/>
        </p:nvSpPr>
        <p:spPr>
          <a:xfrm>
            <a:off x="7132320" y="3337560"/>
            <a:ext cx="4297680" cy="1005840"/>
          </a:xfrm>
          <a:prstGeom prst="rect">
            <a:avLst/>
          </a:prstGeom>
          <a:noFill/>
        </p:spPr>
        <p:txBody>
          <a:bodyPr wrap="square">
            <a:spAutoFit/>
          </a:bodyPr>
          <a:lstStyle/>
          <a:p>
            <a:pPr>
              <a:defRPr sz="1600" b="1">
                <a:solidFill>
                  <a:srgbClr val="FFFFFF"/>
                </a:solidFill>
                <a:latin typeface="Segoe UI"/>
              </a:defRPr>
            </a:pPr>
            <a:r>
              <a:t>Step 5: LLM Dispatch</a:t>
            </a:r>
          </a:p>
          <a:p>
            <a:pPr>
              <a:spcBef>
                <a:spcPts val="400"/>
              </a:spcBef>
              <a:defRPr sz="1300">
                <a:solidFill>
                  <a:srgbClr val="B0B4CF"/>
                </a:solidFill>
                <a:latin typeface="Segoe UI"/>
              </a:defRPr>
            </a:pPr>
            <a:r>
              <a:t>Request forwarded to OpenAI/Gemini/Claude (or secure mock).</a:t>
            </a:r>
          </a:p>
        </p:txBody>
      </p:sp>
      <p:sp>
        <p:nvSpPr>
          <p:cNvPr id="20" name="Rounded Rectangle 19"/>
          <p:cNvSpPr/>
          <p:nvPr/>
        </p:nvSpPr>
        <p:spPr>
          <a:xfrm>
            <a:off x="6217920" y="4754880"/>
            <a:ext cx="5394960" cy="128016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400800" y="4937760"/>
            <a:ext cx="548640" cy="54864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pPr>
            <a:r>
              <a:t>6</a:t>
            </a:r>
          </a:p>
        </p:txBody>
      </p:sp>
      <p:sp>
        <p:nvSpPr>
          <p:cNvPr id="22" name="TextBox 21"/>
          <p:cNvSpPr txBox="1"/>
          <p:nvPr/>
        </p:nvSpPr>
        <p:spPr>
          <a:xfrm>
            <a:off x="7132320" y="4892040"/>
            <a:ext cx="4297680" cy="1005840"/>
          </a:xfrm>
          <a:prstGeom prst="rect">
            <a:avLst/>
          </a:prstGeom>
          <a:noFill/>
        </p:spPr>
        <p:txBody>
          <a:bodyPr wrap="square">
            <a:spAutoFit/>
          </a:bodyPr>
          <a:lstStyle/>
          <a:p>
            <a:pPr>
              <a:defRPr sz="1600" b="1">
                <a:solidFill>
                  <a:srgbClr val="FFFFFF"/>
                </a:solidFill>
                <a:latin typeface="Segoe UI"/>
              </a:defRPr>
            </a:pPr>
            <a:r>
              <a:t>Step 6: Logs Persistence</a:t>
            </a:r>
          </a:p>
          <a:p>
            <a:pPr>
              <a:spcBef>
                <a:spcPts val="400"/>
              </a:spcBef>
              <a:defRPr sz="1300">
                <a:solidFill>
                  <a:srgbClr val="B0B4CF"/>
                </a:solidFill>
                <a:latin typeface="Segoe UI"/>
              </a:defRPr>
            </a:pPr>
            <a:r>
              <a:t>Metrics (decisions, scores, latency) saved asynchronously.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a:spAutoFit/>
          </a:bodyPr>
          <a:lstStyle/>
          <a:p>
            <a:pPr>
              <a:defRPr sz="1000" b="1">
                <a:solidFill>
                  <a:srgbClr val="8B5CF6"/>
                </a:solidFill>
                <a:latin typeface="Segoe UI"/>
              </a:defRPr>
            </a:pPr>
            <a:r>
              <a:t>LLM-DEFANC</a:t>
            </a:r>
          </a:p>
        </p:txBody>
      </p:sp>
      <p:sp>
        <p:nvSpPr>
          <p:cNvPr id="3" name="TextBox 2"/>
          <p:cNvSpPr txBox="1"/>
          <p:nvPr/>
        </p:nvSpPr>
        <p:spPr>
          <a:xfrm>
            <a:off x="548640" y="548640"/>
            <a:ext cx="10972800" cy="731520"/>
          </a:xfrm>
          <a:prstGeom prst="rect">
            <a:avLst/>
          </a:prstGeom>
          <a:noFill/>
        </p:spPr>
        <p:txBody>
          <a:bodyPr wrap="square">
            <a:spAutoFit/>
          </a:bodyPr>
          <a:lstStyle/>
          <a:p>
            <a:pPr>
              <a:defRPr sz="2800" b="1">
                <a:solidFill>
                  <a:srgbClr val="FFFFFF"/>
                </a:solidFill>
                <a:latin typeface="Segoe UI"/>
              </a:defRPr>
            </a:pPr>
            <a:r>
              <a:t>Authentication &amp; Identity Management</a:t>
            </a:r>
          </a:p>
        </p:txBody>
      </p:sp>
      <p:sp>
        <p:nvSpPr>
          <p:cNvPr id="4" name="Rectangle 3"/>
          <p:cNvSpPr/>
          <p:nvPr/>
        </p:nvSpPr>
        <p:spPr>
          <a:xfrm>
            <a:off x="548640" y="1280160"/>
            <a:ext cx="10972800" cy="18288"/>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828800"/>
            <a:ext cx="5303520" cy="411480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011680"/>
            <a:ext cx="4937760" cy="3749039"/>
          </a:xfrm>
          <a:prstGeom prst="rect">
            <a:avLst/>
          </a:prstGeom>
          <a:noFill/>
        </p:spPr>
        <p:txBody>
          <a:bodyPr wrap="square">
            <a:spAutoFit/>
          </a:bodyPr>
          <a:lstStyle/>
          <a:p>
            <a:pPr>
              <a:spcAft>
                <a:spcPts val="1400"/>
              </a:spcAft>
              <a:defRPr sz="2000" b="1">
                <a:solidFill>
                  <a:srgbClr val="06B6D4"/>
                </a:solidFill>
                <a:latin typeface="Segoe UI"/>
              </a:defRPr>
            </a:pPr>
            <a:r>
              <a:t>JWT Stateless Authentication</a:t>
            </a:r>
          </a:p>
          <a:p>
            <a:pPr>
              <a:defRPr sz="1400">
                <a:latin typeface="Segoe UI"/>
              </a:defRPr>
            </a:pPr>
            <a:r>
              <a:rPr b="1">
                <a:solidFill>
                  <a:srgbClr val="06B6D4"/>
                </a:solidFill>
              </a:rPr>
              <a:t>• Token Issuance: </a:t>
            </a:r>
            <a:r>
              <a:rPr>
                <a:solidFill>
                  <a:srgbClr val="FFFFFF"/>
                </a:solidFill>
              </a:rPr>
              <a:t>Generates cryptographically signed JSON Web Tokens (HS256) on successful credentials verification.</a:t>
            </a:r>
          </a:p>
          <a:p>
            <a:pPr>
              <a:defRPr sz="1400">
                <a:latin typeface="Segoe UI"/>
              </a:defRPr>
            </a:pPr>
            <a:r>
              <a:rPr b="1">
                <a:solidFill>
                  <a:srgbClr val="06B6D4"/>
                </a:solidFill>
              </a:rPr>
              <a:t>• Expiration-aware: </a:t>
            </a:r>
            <a:r>
              <a:rPr>
                <a:solidFill>
                  <a:srgbClr val="FFFFFF"/>
                </a:solidFill>
              </a:rPr>
              <a:t>Enforces strict token lifecycle expiration limits (default: 120 minutes) to prevent reuse.</a:t>
            </a:r>
          </a:p>
          <a:p>
            <a:pPr>
              <a:defRPr sz="1400">
                <a:latin typeface="Segoe UI"/>
              </a:defRPr>
            </a:pPr>
            <a:r>
              <a:rPr b="1">
                <a:solidFill>
                  <a:srgbClr val="06B6D4"/>
                </a:solidFill>
              </a:rPr>
              <a:t>• OAuth2 standard: </a:t>
            </a:r>
            <a:r>
              <a:rPr>
                <a:solidFill>
                  <a:srgbClr val="FFFFFF"/>
                </a:solidFill>
              </a:rPr>
              <a:t>Follows FastAPI OAuth2 password scheme with bearer token authentication.</a:t>
            </a:r>
          </a:p>
        </p:txBody>
      </p:sp>
      <p:sp>
        <p:nvSpPr>
          <p:cNvPr id="7" name="Rounded Rectangle 6"/>
          <p:cNvSpPr/>
          <p:nvPr/>
        </p:nvSpPr>
        <p:spPr>
          <a:xfrm>
            <a:off x="6309360" y="1828800"/>
            <a:ext cx="5303520" cy="411480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2011680"/>
            <a:ext cx="4937760" cy="3749039"/>
          </a:xfrm>
          <a:prstGeom prst="rect">
            <a:avLst/>
          </a:prstGeom>
          <a:noFill/>
        </p:spPr>
        <p:txBody>
          <a:bodyPr wrap="square">
            <a:spAutoFit/>
          </a:bodyPr>
          <a:lstStyle/>
          <a:p>
            <a:pPr>
              <a:spcAft>
                <a:spcPts val="1400"/>
              </a:spcAft>
              <a:defRPr sz="2000" b="1">
                <a:solidFill>
                  <a:srgbClr val="8B5CF6"/>
                </a:solidFill>
                <a:latin typeface="Segoe UI"/>
              </a:defRPr>
            </a:pPr>
            <a:r>
              <a:t>Credentials &amp; Client Management</a:t>
            </a:r>
          </a:p>
          <a:p>
            <a:pPr>
              <a:defRPr sz="1400">
                <a:latin typeface="Segoe UI"/>
              </a:defRPr>
            </a:pPr>
            <a:r>
              <a:rPr b="1">
                <a:solidFill>
                  <a:srgbClr val="06B6D4"/>
                </a:solidFill>
              </a:rPr>
              <a:t>• Hashing Security: </a:t>
            </a:r>
            <a:r>
              <a:rPr>
                <a:solidFill>
                  <a:srgbClr val="FFFFFF"/>
                </a:solidFill>
              </a:rPr>
              <a:t>Encrypts credentials using industry-grade Bcrypt password hashing algorithms.</a:t>
            </a:r>
          </a:p>
          <a:p>
            <a:pPr>
              <a:defRPr sz="1400">
                <a:latin typeface="Segoe UI"/>
              </a:defRPr>
            </a:pPr>
            <a:r>
              <a:rPr b="1">
                <a:solidFill>
                  <a:srgbClr val="06B6D4"/>
                </a:solidFill>
              </a:rPr>
              <a:t>• Database validation: </a:t>
            </a:r>
            <a:r>
              <a:rPr>
                <a:solidFill>
                  <a:srgbClr val="FFFFFF"/>
                </a:solidFill>
              </a:rPr>
              <a:t>Validates users dynamically on each API route calling `get_current_user` dependencies.</a:t>
            </a:r>
          </a:p>
          <a:p>
            <a:pPr>
              <a:defRPr sz="1400">
                <a:latin typeface="Segoe UI"/>
              </a:defRPr>
            </a:pPr>
            <a:r>
              <a:rPr b="1">
                <a:solidFill>
                  <a:srgbClr val="06B6D4"/>
                </a:solidFill>
              </a:rPr>
              <a:t>• API-Key expansion: </a:t>
            </a:r>
            <a:r>
              <a:rPr>
                <a:solidFill>
                  <a:srgbClr val="FFFFFF"/>
                </a:solidFill>
              </a:rPr>
              <a:t>Modular code designed to easily support developer API keys for automation scripts.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a:spAutoFit/>
          </a:bodyPr>
          <a:lstStyle/>
          <a:p>
            <a:pPr>
              <a:defRPr sz="1000" b="1">
                <a:solidFill>
                  <a:srgbClr val="8B5CF6"/>
                </a:solidFill>
                <a:latin typeface="Segoe UI"/>
              </a:defRPr>
            </a:pPr>
            <a:r>
              <a:t>LLM-DEFANC</a:t>
            </a:r>
          </a:p>
        </p:txBody>
      </p:sp>
      <p:sp>
        <p:nvSpPr>
          <p:cNvPr id="3" name="TextBox 2"/>
          <p:cNvSpPr txBox="1"/>
          <p:nvPr/>
        </p:nvSpPr>
        <p:spPr>
          <a:xfrm>
            <a:off x="548640" y="548640"/>
            <a:ext cx="10972800" cy="731520"/>
          </a:xfrm>
          <a:prstGeom prst="rect">
            <a:avLst/>
          </a:prstGeom>
          <a:noFill/>
        </p:spPr>
        <p:txBody>
          <a:bodyPr wrap="square">
            <a:spAutoFit/>
          </a:bodyPr>
          <a:lstStyle/>
          <a:p>
            <a:pPr>
              <a:defRPr sz="2800" b="1">
                <a:solidFill>
                  <a:srgbClr val="FFFFFF"/>
                </a:solidFill>
                <a:latin typeface="Segoe UI"/>
              </a:defRPr>
            </a:pPr>
            <a:r>
              <a:t>Data Loss Prevention: PII Redaction</a:t>
            </a:r>
          </a:p>
        </p:txBody>
      </p:sp>
      <p:sp>
        <p:nvSpPr>
          <p:cNvPr id="4" name="Rectangle 3"/>
          <p:cNvSpPr/>
          <p:nvPr/>
        </p:nvSpPr>
        <p:spPr>
          <a:xfrm>
            <a:off x="548640" y="1280160"/>
            <a:ext cx="10972800" cy="18288"/>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972800" cy="731520"/>
          </a:xfrm>
          <a:prstGeom prst="rect">
            <a:avLst/>
          </a:prstGeom>
          <a:noFill/>
        </p:spPr>
        <p:txBody>
          <a:bodyPr wrap="none">
            <a:spAutoFit/>
          </a:bodyPr>
          <a:lstStyle/>
          <a:p>
            <a:pPr>
              <a:defRPr sz="1800">
                <a:solidFill>
                  <a:srgbClr val="FFFFFF"/>
                </a:solidFill>
              </a:defRPr>
            </a:pPr>
            <a:r>
              <a:t>Real-time inspection of outgoing prompt strings to prevent leakage of confidential data.</a:t>
            </a:r>
          </a:p>
        </p:txBody>
      </p:sp>
      <p:sp>
        <p:nvSpPr>
          <p:cNvPr id="6" name="Rounded Rectangle 5"/>
          <p:cNvSpPr/>
          <p:nvPr/>
        </p:nvSpPr>
        <p:spPr>
          <a:xfrm>
            <a:off x="548640" y="2286000"/>
            <a:ext cx="5303520" cy="365760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68880"/>
            <a:ext cx="4937760" cy="3291840"/>
          </a:xfrm>
          <a:prstGeom prst="rect">
            <a:avLst/>
          </a:prstGeom>
          <a:noFill/>
        </p:spPr>
        <p:txBody>
          <a:bodyPr wrap="square">
            <a:spAutoFit/>
          </a:bodyPr>
          <a:lstStyle/>
          <a:p>
            <a:pPr>
              <a:spcAft>
                <a:spcPts val="1400"/>
              </a:spcAft>
              <a:defRPr sz="2000" b="1">
                <a:solidFill>
                  <a:srgbClr val="EF4444"/>
                </a:solidFill>
              </a:defRPr>
            </a:pPr>
            <a:r>
              <a:t>Raw Prompt (PII Present)</a:t>
            </a:r>
          </a:p>
          <a:p>
            <a:pPr>
              <a:defRPr sz="1400">
                <a:solidFill>
                  <a:srgbClr val="FFFFFF"/>
                </a:solidFill>
                <a:latin typeface="Consolas"/>
              </a:defRPr>
            </a:pPr>
            <a:r>
              <a:t>Hello, my name is John Doe.</a:t>
            </a:r>
            <a:br/>
            <a:r>
              <a:t>My email is john.doe@company.com.</a:t>
            </a:r>
            <a:br/>
            <a:r>
              <a:t>Please charge $50 to credit card:</a:t>
            </a:r>
            <a:br/>
            <a:r>
              <a:t>4111 1111 1111 1111.</a:t>
            </a:r>
          </a:p>
        </p:txBody>
      </p:sp>
      <p:sp>
        <p:nvSpPr>
          <p:cNvPr id="8" name="Rounded Rectangle 7"/>
          <p:cNvSpPr/>
          <p:nvPr/>
        </p:nvSpPr>
        <p:spPr>
          <a:xfrm>
            <a:off x="6309360" y="2286000"/>
            <a:ext cx="5303520" cy="365760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468880"/>
            <a:ext cx="4937760" cy="3291840"/>
          </a:xfrm>
          <a:prstGeom prst="rect">
            <a:avLst/>
          </a:prstGeom>
          <a:noFill/>
        </p:spPr>
        <p:txBody>
          <a:bodyPr wrap="square">
            <a:spAutoFit/>
          </a:bodyPr>
          <a:lstStyle/>
          <a:p>
            <a:pPr>
              <a:spcAft>
                <a:spcPts val="1400"/>
              </a:spcAft>
              <a:defRPr sz="2000" b="1">
                <a:solidFill>
                  <a:srgbClr val="10B981"/>
                </a:solidFill>
              </a:defRPr>
            </a:pPr>
            <a:r>
              <a:t>Redacted Prompt (Allowed Mode)</a:t>
            </a:r>
          </a:p>
          <a:p>
            <a:pPr>
              <a:defRPr sz="1400">
                <a:solidFill>
                  <a:srgbClr val="06B6D4"/>
                </a:solidFill>
                <a:latin typeface="Consolas"/>
              </a:defRPr>
            </a:pPr>
            <a:r>
              <a:t>Hello, my name is John Doe.</a:t>
            </a:r>
            <a:br/>
            <a:r>
              <a:t>My email is &lt;EMAIL_ADDRESS&gt;.</a:t>
            </a:r>
            <a:br/>
            <a:r>
              <a:t>Please charge $50 to credit card:</a:t>
            </a:r>
            <a:br/>
            <a:r>
              <a:t>card: &lt;CREDIT_CARD&gt;.</a:t>
            </a:r>
          </a:p>
        </p:txBody>
      </p:sp>
      <p:sp>
        <p:nvSpPr>
          <p:cNvPr id="10" name="TextBox 9"/>
          <p:cNvSpPr txBox="1"/>
          <p:nvPr/>
        </p:nvSpPr>
        <p:spPr>
          <a:xfrm>
            <a:off x="548640" y="6035040"/>
            <a:ext cx="10972800" cy="457200"/>
          </a:xfrm>
          <a:prstGeom prst="rect">
            <a:avLst/>
          </a:prstGeom>
          <a:noFill/>
        </p:spPr>
        <p:txBody>
          <a:bodyPr wrap="none">
            <a:spAutoFit/>
          </a:bodyPr>
          <a:lstStyle/>
          <a:p>
            <a:pPr>
              <a:defRPr sz="1300" i="1">
                <a:solidFill>
                  <a:srgbClr val="B0B4CF"/>
                </a:solidFill>
              </a:defRPr>
            </a:pPr>
            <a:r>
              <a:t>Supported entities: Email, Phone Number, Credit Card (Luhn checked), US SSN, IP Address, API Keys.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a:spAutoFit/>
          </a:bodyPr>
          <a:lstStyle/>
          <a:p>
            <a:pPr>
              <a:defRPr sz="1000" b="1">
                <a:solidFill>
                  <a:srgbClr val="8B5CF6"/>
                </a:solidFill>
                <a:latin typeface="Segoe UI"/>
              </a:defRPr>
            </a:pPr>
            <a:r>
              <a:t>LLM-DEFANC</a:t>
            </a:r>
          </a:p>
        </p:txBody>
      </p:sp>
      <p:sp>
        <p:nvSpPr>
          <p:cNvPr id="3" name="TextBox 2"/>
          <p:cNvSpPr txBox="1"/>
          <p:nvPr/>
        </p:nvSpPr>
        <p:spPr>
          <a:xfrm>
            <a:off x="548640" y="548640"/>
            <a:ext cx="10972800" cy="731520"/>
          </a:xfrm>
          <a:prstGeom prst="rect">
            <a:avLst/>
          </a:prstGeom>
          <a:noFill/>
        </p:spPr>
        <p:txBody>
          <a:bodyPr wrap="square">
            <a:spAutoFit/>
          </a:bodyPr>
          <a:lstStyle/>
          <a:p>
            <a:pPr>
              <a:defRPr sz="2800" b="1">
                <a:solidFill>
                  <a:srgbClr val="FFFFFF"/>
                </a:solidFill>
                <a:latin typeface="Segoe UI"/>
              </a:defRPr>
            </a:pPr>
            <a:r>
              <a:t>Threat Shield: Prompt Injection Prevention</a:t>
            </a:r>
          </a:p>
        </p:txBody>
      </p:sp>
      <p:sp>
        <p:nvSpPr>
          <p:cNvPr id="4" name="Rectangle 3"/>
          <p:cNvSpPr/>
          <p:nvPr/>
        </p:nvSpPr>
        <p:spPr>
          <a:xfrm>
            <a:off x="548640" y="1280160"/>
            <a:ext cx="10972800" cy="18288"/>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0"/>
            <a:ext cx="5486400" cy="4572000"/>
          </a:xfrm>
          <a:prstGeom prst="rect">
            <a:avLst/>
          </a:prstGeom>
          <a:noFill/>
        </p:spPr>
        <p:txBody>
          <a:bodyPr wrap="square">
            <a:spAutoFit/>
          </a:bodyPr>
          <a:lstStyle/>
          <a:p>
            <a:pPr>
              <a:spcAft>
                <a:spcPts val="1400"/>
              </a:spcAft>
              <a:defRPr sz="2000" b="1">
                <a:solidFill>
                  <a:srgbClr val="06B6D4"/>
                </a:solidFill>
              </a:defRPr>
            </a:pPr>
            <a:r>
              <a:t>Multi-Layered Heuristic Rules</a:t>
            </a:r>
          </a:p>
          <a:p>
            <a:pPr>
              <a:defRPr sz="1400">
                <a:latin typeface="Segoe UI"/>
              </a:defRPr>
            </a:pPr>
            <a:r>
              <a:rPr b="1">
                <a:solidFill>
                  <a:srgbClr val="06B6D4"/>
                </a:solidFill>
              </a:rPr>
              <a:t>• Heuristic Overrides: </a:t>
            </a:r>
            <a:r>
              <a:rPr>
                <a:solidFill>
                  <a:srgbClr val="FFFFFF"/>
                </a:solidFill>
              </a:rPr>
              <a:t>Detects system overrides like 'ignore previous instructions' or 'disregard system prompt'.</a:t>
            </a:r>
          </a:p>
          <a:p>
            <a:pPr>
              <a:defRPr sz="1400">
                <a:latin typeface="Segoe UI"/>
              </a:defRPr>
            </a:pPr>
            <a:r>
              <a:rPr b="1">
                <a:solidFill>
                  <a:srgbClr val="06B6D4"/>
                </a:solidFill>
              </a:rPr>
              <a:t>• Jailbreak Signatures: </a:t>
            </a:r>
            <a:r>
              <a:rPr>
                <a:solidFill>
                  <a:srgbClr val="FFFFFF"/>
                </a:solidFill>
              </a:rPr>
              <a:t>Flags jailbreaks attempt signatures, including roleplays ('DAN mode', 'God mode', 'unrestricted AI').</a:t>
            </a:r>
          </a:p>
          <a:p>
            <a:pPr>
              <a:defRPr sz="1400">
                <a:latin typeface="Segoe UI"/>
              </a:defRPr>
            </a:pPr>
            <a:r>
              <a:rPr b="1">
                <a:solidFill>
                  <a:srgbClr val="06B6D4"/>
                </a:solidFill>
              </a:rPr>
              <a:t>• Data Exfiltration: </a:t>
            </a:r>
            <a:r>
              <a:rPr>
                <a:solidFill>
                  <a:srgbClr val="FFFFFF"/>
                </a:solidFill>
              </a:rPr>
              <a:t>Blocks markdown image injections designed to steal data silently via URL query parameters.</a:t>
            </a:r>
          </a:p>
          <a:p>
            <a:pPr>
              <a:defRPr sz="1400">
                <a:latin typeface="Segoe UI"/>
              </a:defRPr>
            </a:pPr>
            <a:r>
              <a:rPr b="1">
                <a:solidFill>
                  <a:srgbClr val="06B6D4"/>
                </a:solidFill>
              </a:rPr>
              <a:t>• Dynamic Threat Score: </a:t>
            </a:r>
            <a:r>
              <a:rPr>
                <a:solidFill>
                  <a:srgbClr val="FFFFFF"/>
                </a:solidFill>
              </a:rPr>
              <a:t>Combines trigger weights; blocks query and returns 400 Bad Request if score exceeds policy limits.</a:t>
            </a:r>
          </a:p>
        </p:txBody>
      </p:sp>
      <p:sp>
        <p:nvSpPr>
          <p:cNvPr id="6" name="Rounded Rectangle 5"/>
          <p:cNvSpPr/>
          <p:nvPr/>
        </p:nvSpPr>
        <p:spPr>
          <a:xfrm>
            <a:off x="6309360" y="1645920"/>
            <a:ext cx="5303520" cy="438912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828800"/>
            <a:ext cx="4937760" cy="4023360"/>
          </a:xfrm>
          <a:prstGeom prst="rect">
            <a:avLst/>
          </a:prstGeom>
          <a:noFill/>
        </p:spPr>
        <p:txBody>
          <a:bodyPr wrap="square">
            <a:spAutoFit/>
          </a:bodyPr>
          <a:lstStyle/>
          <a:p>
            <a:pPr>
              <a:spcAft>
                <a:spcPts val="1400"/>
              </a:spcAft>
              <a:defRPr sz="1800" b="1">
                <a:solidFill>
                  <a:srgbClr val="EF4444"/>
                </a:solidFill>
              </a:defRPr>
            </a:pPr>
            <a:r>
              <a:t>Blocked Response Log Example</a:t>
            </a:r>
          </a:p>
          <a:p>
            <a:pPr>
              <a:defRPr sz="1200">
                <a:solidFill>
                  <a:srgbClr val="FFFFFF"/>
                </a:solidFill>
                <a:latin typeface="Consolas"/>
              </a:defRPr>
            </a:pPr>
            <a:r>
              <a:t>HTTP/1.1 400 Bad Request</a:t>
            </a:r>
            <a:br/>
            <a:r>
              <a:t>{</a:t>
            </a:r>
            <a:br/>
            <a:r>
              <a:t>  "error": "blocked_by_policy",</a:t>
            </a:r>
            <a:br/>
            <a:r>
              <a:t>  "reason": "prompt_injection",</a:t>
            </a:r>
            <a:br/>
            <a:r>
              <a:t>  "score": 0.6,</a:t>
            </a:r>
            <a:br/>
            <a:r>
              <a:t>  "violations": [</a:t>
            </a:r>
            <a:br/>
            <a:r>
              <a:t>    {</a:t>
            </a:r>
            <a:br/>
            <a:r>
              <a:t>      "rule_id": "direct_override",</a:t>
            </a:r>
            <a:br/>
            <a:r>
              <a:t>      "description": "System overrides",</a:t>
            </a:r>
            <a:br/>
            <a:r>
              <a:t>      "matched_text": "ignore previous"</a:t>
            </a:r>
            <a:br/>
            <a:r>
              <a:t>    }</a:t>
            </a:r>
            <a:br/>
            <a:r>
              <a:t>  ]</a:t>
            </a:r>
            <a:br/>
            <a: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a:spAutoFit/>
          </a:bodyPr>
          <a:lstStyle/>
          <a:p>
            <a:pPr>
              <a:defRPr sz="1000" b="1">
                <a:solidFill>
                  <a:srgbClr val="8B5CF6"/>
                </a:solidFill>
                <a:latin typeface="Segoe UI"/>
              </a:defRPr>
            </a:pPr>
            <a:r>
              <a:t>LLM-DEFANC</a:t>
            </a:r>
          </a:p>
        </p:txBody>
      </p:sp>
      <p:sp>
        <p:nvSpPr>
          <p:cNvPr id="3" name="TextBox 2"/>
          <p:cNvSpPr txBox="1"/>
          <p:nvPr/>
        </p:nvSpPr>
        <p:spPr>
          <a:xfrm>
            <a:off x="548640" y="548640"/>
            <a:ext cx="10972800" cy="731520"/>
          </a:xfrm>
          <a:prstGeom prst="rect">
            <a:avLst/>
          </a:prstGeom>
          <a:noFill/>
        </p:spPr>
        <p:txBody>
          <a:bodyPr wrap="square">
            <a:spAutoFit/>
          </a:bodyPr>
          <a:lstStyle/>
          <a:p>
            <a:pPr>
              <a:defRPr sz="2800" b="1">
                <a:solidFill>
                  <a:srgbClr val="FFFFFF"/>
                </a:solidFill>
                <a:latin typeface="Segoe UI"/>
              </a:defRPr>
            </a:pPr>
            <a:r>
              <a:t>Asynchronous Audit Logging &amp; Forensics</a:t>
            </a:r>
          </a:p>
        </p:txBody>
      </p:sp>
      <p:sp>
        <p:nvSpPr>
          <p:cNvPr id="4" name="Rectangle 3"/>
          <p:cNvSpPr/>
          <p:nvPr/>
        </p:nvSpPr>
        <p:spPr>
          <a:xfrm>
            <a:off x="548640" y="1280160"/>
            <a:ext cx="10972800" cy="18288"/>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0"/>
            <a:ext cx="5486400" cy="4572000"/>
          </a:xfrm>
          <a:prstGeom prst="rect">
            <a:avLst/>
          </a:prstGeom>
          <a:noFill/>
        </p:spPr>
        <p:txBody>
          <a:bodyPr wrap="square">
            <a:spAutoFit/>
          </a:bodyPr>
          <a:lstStyle/>
          <a:p>
            <a:pPr>
              <a:spcAft>
                <a:spcPts val="1400"/>
              </a:spcAft>
              <a:defRPr sz="2000" b="1">
                <a:solidFill>
                  <a:srgbClr val="8B5CF6"/>
                </a:solidFill>
              </a:defRPr>
            </a:pPr>
            <a:r>
              <a:t>Database Schema Details</a:t>
            </a:r>
          </a:p>
          <a:p>
            <a:pPr>
              <a:defRPr sz="1400">
                <a:latin typeface="Segoe UI"/>
              </a:defRPr>
            </a:pPr>
            <a:r>
              <a:rPr b="1">
                <a:solidFill>
                  <a:srgbClr val="06B6D4"/>
                </a:solidFill>
              </a:rPr>
              <a:t>• Timestamp &amp; User: </a:t>
            </a:r>
            <a:r>
              <a:rPr>
                <a:solidFill>
                  <a:srgbClr val="FFFFFF"/>
                </a:solidFill>
              </a:rPr>
              <a:t>Saves strict datetime logs and the username of the account making the call.</a:t>
            </a:r>
          </a:p>
          <a:p>
            <a:pPr>
              <a:defRPr sz="1400">
                <a:latin typeface="Segoe UI"/>
              </a:defRPr>
            </a:pPr>
            <a:r>
              <a:rPr b="1">
                <a:solidFill>
                  <a:srgbClr val="06B6D4"/>
                </a:solidFill>
              </a:rPr>
              <a:t>• Prompt Payload: </a:t>
            </a:r>
            <a:r>
              <a:rPr>
                <a:solidFill>
                  <a:srgbClr val="FFFFFF"/>
                </a:solidFill>
              </a:rPr>
              <a:t>Logs the original prompt, the redacted prompt, and the resulting LLM response for audit trails.</a:t>
            </a:r>
          </a:p>
          <a:p>
            <a:pPr>
              <a:defRPr sz="1400">
                <a:latin typeface="Segoe UI"/>
              </a:defRPr>
            </a:pPr>
            <a:r>
              <a:rPr b="1">
                <a:solidFill>
                  <a:srgbClr val="06B6D4"/>
                </a:solidFill>
              </a:rPr>
              <a:t>• Threat Details: </a:t>
            </a:r>
            <a:r>
              <a:rPr>
                <a:solidFill>
                  <a:srgbClr val="FFFFFF"/>
                </a:solidFill>
              </a:rPr>
              <a:t>Records status (allowed/blocked), block reason, and details of any triggered rules.</a:t>
            </a:r>
          </a:p>
          <a:p>
            <a:pPr>
              <a:defRPr sz="1400">
                <a:latin typeface="Segoe UI"/>
              </a:defRPr>
            </a:pPr>
            <a:r>
              <a:rPr b="1">
                <a:solidFill>
                  <a:srgbClr val="06B6D4"/>
                </a:solidFill>
              </a:rPr>
              <a:t>• Performance Metrics: </a:t>
            </a:r>
            <a:r>
              <a:rPr>
                <a:solidFill>
                  <a:srgbClr val="FFFFFF"/>
                </a:solidFill>
              </a:rPr>
              <a:t>Tracks execution latency in milliseconds to monitor system overhead.</a:t>
            </a:r>
          </a:p>
        </p:txBody>
      </p:sp>
      <p:sp>
        <p:nvSpPr>
          <p:cNvPr id="6" name="Rounded Rectangle 5"/>
          <p:cNvSpPr/>
          <p:nvPr/>
        </p:nvSpPr>
        <p:spPr>
          <a:xfrm>
            <a:off x="6309360" y="1645920"/>
            <a:ext cx="5303520" cy="438912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828800"/>
            <a:ext cx="4937760" cy="4023360"/>
          </a:xfrm>
          <a:prstGeom prst="rect">
            <a:avLst/>
          </a:prstGeom>
          <a:noFill/>
        </p:spPr>
        <p:txBody>
          <a:bodyPr wrap="square">
            <a:spAutoFit/>
          </a:bodyPr>
          <a:lstStyle/>
          <a:p>
            <a:pPr>
              <a:spcAft>
                <a:spcPts val="1400"/>
              </a:spcAft>
              <a:defRPr sz="1800" b="1">
                <a:solidFill>
                  <a:srgbClr val="06B6D4"/>
                </a:solidFill>
              </a:defRPr>
            </a:pPr>
            <a:r>
              <a:t>AuditLog SQL Schema</a:t>
            </a:r>
          </a:p>
          <a:p>
            <a:pPr>
              <a:defRPr sz="1200">
                <a:solidFill>
                  <a:srgbClr val="FFFFFF"/>
                </a:solidFill>
                <a:latin typeface="Consolas"/>
              </a:defRPr>
            </a:pPr>
            <a:r>
              <a:t>class AuditLog(Base):</a:t>
            </a:r>
            <a:br/>
            <a:r>
              <a:t>    id = Column(Integer, primary_key=True)</a:t>
            </a:r>
            <a:br/>
            <a:r>
              <a:t>    timestamp = Column(DateTime, default=utcnow)</a:t>
            </a:r>
            <a:br/>
            <a:r>
              <a:t>    username = Column(String, index=True)</a:t>
            </a:r>
            <a:br/>
            <a:r>
              <a:t>    prompt = Column(String)</a:t>
            </a:r>
            <a:br/>
            <a:r>
              <a:t>    redacted_prompt = Column(String)</a:t>
            </a:r>
            <a:br/>
            <a:r>
              <a:t>    response = Column(String)</a:t>
            </a:r>
            <a:br/>
            <a:r>
              <a:t>    status = Column(String)  # allowed/blocked</a:t>
            </a:r>
            <a:br/>
            <a:r>
              <a:t>    block_reason = Column(String) # pii/injection</a:t>
            </a:r>
            <a:br/>
            <a:r>
              <a:t>    violation_details = Column(String)</a:t>
            </a:r>
            <a:br/>
            <a:r>
              <a:t>    latency_ms = Column(Float)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a:spAutoFit/>
          </a:bodyPr>
          <a:lstStyle/>
          <a:p>
            <a:pPr>
              <a:defRPr sz="1000" b="1">
                <a:solidFill>
                  <a:srgbClr val="8B5CF6"/>
                </a:solidFill>
                <a:latin typeface="Segoe UI"/>
              </a:defRPr>
            </a:pPr>
            <a:r>
              <a:t>LLM-DEFANC</a:t>
            </a:r>
          </a:p>
        </p:txBody>
      </p:sp>
      <p:sp>
        <p:nvSpPr>
          <p:cNvPr id="3" name="TextBox 2"/>
          <p:cNvSpPr txBox="1"/>
          <p:nvPr/>
        </p:nvSpPr>
        <p:spPr>
          <a:xfrm>
            <a:off x="548640" y="548640"/>
            <a:ext cx="10972800" cy="731520"/>
          </a:xfrm>
          <a:prstGeom prst="rect">
            <a:avLst/>
          </a:prstGeom>
          <a:noFill/>
        </p:spPr>
        <p:txBody>
          <a:bodyPr wrap="square">
            <a:spAutoFit/>
          </a:bodyPr>
          <a:lstStyle/>
          <a:p>
            <a:pPr>
              <a:defRPr sz="2800" b="1">
                <a:solidFill>
                  <a:srgbClr val="FFFFFF"/>
                </a:solidFill>
                <a:latin typeface="Segoe UI"/>
              </a:defRPr>
            </a:pPr>
            <a:r>
              <a:t>Executive Security Analytics Dashboard</a:t>
            </a:r>
          </a:p>
        </p:txBody>
      </p:sp>
      <p:sp>
        <p:nvSpPr>
          <p:cNvPr id="4" name="Rectangle 3"/>
          <p:cNvSpPr/>
          <p:nvPr/>
        </p:nvSpPr>
        <p:spPr>
          <a:xfrm>
            <a:off x="548640" y="1280160"/>
            <a:ext cx="10972800" cy="18288"/>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0972800" cy="457200"/>
          </a:xfrm>
          <a:prstGeom prst="rect">
            <a:avLst/>
          </a:prstGeom>
          <a:noFill/>
        </p:spPr>
        <p:txBody>
          <a:bodyPr wrap="none">
            <a:spAutoFit/>
          </a:bodyPr>
          <a:lstStyle/>
          <a:p>
            <a:pPr>
              <a:defRPr sz="1600">
                <a:solidFill>
                  <a:srgbClr val="B0B4CF"/>
                </a:solidFill>
              </a:defRPr>
            </a:pPr>
            <a:r>
              <a:t>Real-time dashboard metrics visualizes organizational threat postures.</a:t>
            </a:r>
          </a:p>
        </p:txBody>
      </p:sp>
      <p:sp>
        <p:nvSpPr>
          <p:cNvPr id="6" name="Rounded Rectangle 5"/>
          <p:cNvSpPr/>
          <p:nvPr/>
        </p:nvSpPr>
        <p:spPr>
          <a:xfrm>
            <a:off x="548640" y="2011680"/>
            <a:ext cx="2697480" cy="182880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194560"/>
            <a:ext cx="2697480" cy="365760"/>
          </a:xfrm>
          <a:prstGeom prst="rect">
            <a:avLst/>
          </a:prstGeom>
          <a:noFill/>
        </p:spPr>
        <p:txBody>
          <a:bodyPr wrap="square">
            <a:spAutoFit/>
          </a:bodyPr>
          <a:lstStyle/>
          <a:p>
            <a:pPr algn="ctr">
              <a:defRPr sz="1400">
                <a:solidFill>
                  <a:srgbClr val="B0B4CF"/>
                </a:solidFill>
                <a:latin typeface="Segoe UI"/>
              </a:defRPr>
            </a:pPr>
            <a:r>
              <a:t>Total Requests</a:t>
            </a:r>
          </a:p>
        </p:txBody>
      </p:sp>
      <p:sp>
        <p:nvSpPr>
          <p:cNvPr id="8" name="TextBox 7"/>
          <p:cNvSpPr txBox="1"/>
          <p:nvPr/>
        </p:nvSpPr>
        <p:spPr>
          <a:xfrm>
            <a:off x="548640" y="2651760"/>
            <a:ext cx="2697480" cy="914400"/>
          </a:xfrm>
          <a:prstGeom prst="rect">
            <a:avLst/>
          </a:prstGeom>
          <a:noFill/>
        </p:spPr>
        <p:txBody>
          <a:bodyPr wrap="square">
            <a:spAutoFit/>
          </a:bodyPr>
          <a:lstStyle/>
          <a:p>
            <a:pPr algn="ctr">
              <a:defRPr sz="2800" b="1">
                <a:solidFill>
                  <a:srgbClr val="06B6D4"/>
                </a:solidFill>
                <a:latin typeface="Segoe UI"/>
              </a:defRPr>
            </a:pPr>
            <a:r>
              <a:t>12,450</a:t>
            </a:r>
          </a:p>
        </p:txBody>
      </p:sp>
      <p:sp>
        <p:nvSpPr>
          <p:cNvPr id="9" name="Rounded Rectangle 8"/>
          <p:cNvSpPr/>
          <p:nvPr/>
        </p:nvSpPr>
        <p:spPr>
          <a:xfrm>
            <a:off x="3337560" y="2011680"/>
            <a:ext cx="2697480" cy="182880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37560" y="2194560"/>
            <a:ext cx="2697480" cy="365760"/>
          </a:xfrm>
          <a:prstGeom prst="rect">
            <a:avLst/>
          </a:prstGeom>
          <a:noFill/>
        </p:spPr>
        <p:txBody>
          <a:bodyPr wrap="square">
            <a:spAutoFit/>
          </a:bodyPr>
          <a:lstStyle/>
          <a:p>
            <a:pPr algn="ctr">
              <a:defRPr sz="1400">
                <a:solidFill>
                  <a:srgbClr val="B0B4CF"/>
                </a:solidFill>
                <a:latin typeface="Segoe UI"/>
              </a:defRPr>
            </a:pPr>
            <a:r>
              <a:t>Allowed Requests</a:t>
            </a:r>
          </a:p>
        </p:txBody>
      </p:sp>
      <p:sp>
        <p:nvSpPr>
          <p:cNvPr id="11" name="TextBox 10"/>
          <p:cNvSpPr txBox="1"/>
          <p:nvPr/>
        </p:nvSpPr>
        <p:spPr>
          <a:xfrm>
            <a:off x="3337560" y="2651760"/>
            <a:ext cx="2697480" cy="914400"/>
          </a:xfrm>
          <a:prstGeom prst="rect">
            <a:avLst/>
          </a:prstGeom>
          <a:noFill/>
        </p:spPr>
        <p:txBody>
          <a:bodyPr wrap="square">
            <a:spAutoFit/>
          </a:bodyPr>
          <a:lstStyle/>
          <a:p>
            <a:pPr algn="ctr">
              <a:defRPr sz="2800" b="1">
                <a:solidFill>
                  <a:srgbClr val="10B981"/>
                </a:solidFill>
                <a:latin typeface="Segoe UI"/>
              </a:defRPr>
            </a:pPr>
            <a:r>
              <a:t>11,820</a:t>
            </a:r>
          </a:p>
        </p:txBody>
      </p:sp>
      <p:sp>
        <p:nvSpPr>
          <p:cNvPr id="12" name="Rounded Rectangle 11"/>
          <p:cNvSpPr/>
          <p:nvPr/>
        </p:nvSpPr>
        <p:spPr>
          <a:xfrm>
            <a:off x="6126480" y="2011680"/>
            <a:ext cx="2697480" cy="182880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80" y="2194560"/>
            <a:ext cx="2697480" cy="365760"/>
          </a:xfrm>
          <a:prstGeom prst="rect">
            <a:avLst/>
          </a:prstGeom>
          <a:noFill/>
        </p:spPr>
        <p:txBody>
          <a:bodyPr wrap="square">
            <a:spAutoFit/>
          </a:bodyPr>
          <a:lstStyle/>
          <a:p>
            <a:pPr algn="ctr">
              <a:defRPr sz="1400">
                <a:solidFill>
                  <a:srgbClr val="B0B4CF"/>
                </a:solidFill>
                <a:latin typeface="Segoe UI"/>
              </a:defRPr>
            </a:pPr>
            <a:r>
              <a:t>Blocked Requests</a:t>
            </a:r>
          </a:p>
        </p:txBody>
      </p:sp>
      <p:sp>
        <p:nvSpPr>
          <p:cNvPr id="14" name="TextBox 13"/>
          <p:cNvSpPr txBox="1"/>
          <p:nvPr/>
        </p:nvSpPr>
        <p:spPr>
          <a:xfrm>
            <a:off x="6126480" y="2651760"/>
            <a:ext cx="2697480" cy="914400"/>
          </a:xfrm>
          <a:prstGeom prst="rect">
            <a:avLst/>
          </a:prstGeom>
          <a:noFill/>
        </p:spPr>
        <p:txBody>
          <a:bodyPr wrap="square">
            <a:spAutoFit/>
          </a:bodyPr>
          <a:lstStyle/>
          <a:p>
            <a:pPr algn="ctr">
              <a:defRPr sz="2800" b="1">
                <a:solidFill>
                  <a:srgbClr val="EF4444"/>
                </a:solidFill>
                <a:latin typeface="Segoe UI"/>
              </a:defRPr>
            </a:pPr>
            <a:r>
              <a:t>630</a:t>
            </a:r>
          </a:p>
        </p:txBody>
      </p:sp>
      <p:sp>
        <p:nvSpPr>
          <p:cNvPr id="15" name="Rounded Rectangle 14"/>
          <p:cNvSpPr/>
          <p:nvPr/>
        </p:nvSpPr>
        <p:spPr>
          <a:xfrm>
            <a:off x="8915400" y="2011680"/>
            <a:ext cx="2697480" cy="182880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15400" y="2194560"/>
            <a:ext cx="2697480" cy="365760"/>
          </a:xfrm>
          <a:prstGeom prst="rect">
            <a:avLst/>
          </a:prstGeom>
          <a:noFill/>
        </p:spPr>
        <p:txBody>
          <a:bodyPr wrap="square">
            <a:spAutoFit/>
          </a:bodyPr>
          <a:lstStyle/>
          <a:p>
            <a:pPr algn="ctr">
              <a:defRPr sz="1400">
                <a:solidFill>
                  <a:srgbClr val="B0B4CF"/>
                </a:solidFill>
                <a:latin typeface="Segoe UI"/>
              </a:defRPr>
            </a:pPr>
            <a:r>
              <a:t>Threat Detections</a:t>
            </a:r>
          </a:p>
        </p:txBody>
      </p:sp>
      <p:sp>
        <p:nvSpPr>
          <p:cNvPr id="17" name="TextBox 16"/>
          <p:cNvSpPr txBox="1"/>
          <p:nvPr/>
        </p:nvSpPr>
        <p:spPr>
          <a:xfrm>
            <a:off x="8915400" y="2651760"/>
            <a:ext cx="2697480" cy="914400"/>
          </a:xfrm>
          <a:prstGeom prst="rect">
            <a:avLst/>
          </a:prstGeom>
          <a:noFill/>
        </p:spPr>
        <p:txBody>
          <a:bodyPr wrap="square">
            <a:spAutoFit/>
          </a:bodyPr>
          <a:lstStyle/>
          <a:p>
            <a:pPr algn="ctr">
              <a:defRPr sz="1800" b="1">
                <a:solidFill>
                  <a:srgbClr val="8B5CF6"/>
                </a:solidFill>
                <a:latin typeface="Segoe UI"/>
              </a:defRPr>
            </a:pPr>
            <a:r>
              <a:t>420 PII | 210 Injections</a:t>
            </a:r>
          </a:p>
        </p:txBody>
      </p:sp>
      <p:sp>
        <p:nvSpPr>
          <p:cNvPr id="18" name="Rounded Rectangle 17"/>
          <p:cNvSpPr/>
          <p:nvPr/>
        </p:nvSpPr>
        <p:spPr>
          <a:xfrm>
            <a:off x="548640" y="4114800"/>
            <a:ext cx="11064240" cy="201168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206240"/>
            <a:ext cx="10698480" cy="1828800"/>
          </a:xfrm>
          <a:prstGeom prst="rect">
            <a:avLst/>
          </a:prstGeom>
          <a:noFill/>
        </p:spPr>
        <p:txBody>
          <a:bodyPr wrap="none">
            <a:spAutoFit/>
          </a:bodyPr>
          <a:lstStyle/>
          <a:p>
            <a:pPr>
              <a:spcAft>
                <a:spcPts val="800"/>
              </a:spcAft>
              <a:defRPr sz="1600" b="1">
                <a:solidFill>
                  <a:srgbClr val="FFFFFF"/>
                </a:solidFill>
              </a:defRPr>
            </a:pPr>
            <a:r>
              <a:t>Dashboard Key Capabilities:</a:t>
            </a:r>
          </a:p>
          <a:p>
            <a:pPr>
              <a:defRPr sz="1400">
                <a:latin typeface="Segoe UI"/>
              </a:defRPr>
            </a:pPr>
            <a:r>
              <a:rPr b="1">
                <a:solidFill>
                  <a:srgbClr val="06B6D4"/>
                </a:solidFill>
              </a:rPr>
              <a:t>• Real-time Ticker: </a:t>
            </a:r>
            <a:r>
              <a:rPr>
                <a:solidFill>
                  <a:srgbClr val="FFFFFF"/>
                </a:solidFill>
              </a:rPr>
              <a:t>Visual logs stream showing allowed and blocked prompts in real time.</a:t>
            </a:r>
          </a:p>
          <a:p>
            <a:pPr>
              <a:defRPr sz="1400">
                <a:latin typeface="Segoe UI"/>
              </a:defRPr>
            </a:pPr>
            <a:r>
              <a:rPr b="1">
                <a:solidFill>
                  <a:srgbClr val="06B6D4"/>
                </a:solidFill>
              </a:rPr>
              <a:t>• Trend Aggregation: </a:t>
            </a:r>
            <a:r>
              <a:rPr>
                <a:solidFill>
                  <a:srgbClr val="FFFFFF"/>
                </a:solidFill>
              </a:rPr>
              <a:t>Aggregates request counts and blockages by day/hour for chart visualization (database agnostic).</a:t>
            </a:r>
          </a:p>
          <a:p>
            <a:pPr>
              <a:defRPr sz="1400">
                <a:latin typeface="Segoe UI"/>
              </a:defRPr>
            </a:pPr>
            <a:r>
              <a:rPr b="1">
                <a:solidFill>
                  <a:srgbClr val="06B6D4"/>
                </a:solidFill>
              </a:rPr>
              <a:t>• Dynamic Rule Modification: </a:t>
            </a:r>
            <a:r>
              <a:rPr>
                <a:solidFill>
                  <a:srgbClr val="FFFFFF"/>
                </a:solidFill>
              </a:rPr>
              <a:t>Administrators can update PII policy ('redact' vs 'block') and injection thresholds dynamically.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a:spAutoFit/>
          </a:bodyPr>
          <a:lstStyle/>
          <a:p>
            <a:pPr>
              <a:defRPr sz="1000" b="1">
                <a:solidFill>
                  <a:srgbClr val="8B5CF6"/>
                </a:solidFill>
                <a:latin typeface="Segoe UI"/>
              </a:defRPr>
            </a:pPr>
            <a:r>
              <a:t>LLM-DEFANC</a:t>
            </a:r>
          </a:p>
        </p:txBody>
      </p:sp>
      <p:sp>
        <p:nvSpPr>
          <p:cNvPr id="3" name="TextBox 2"/>
          <p:cNvSpPr txBox="1"/>
          <p:nvPr/>
        </p:nvSpPr>
        <p:spPr>
          <a:xfrm>
            <a:off x="548640" y="548640"/>
            <a:ext cx="10972800" cy="731520"/>
          </a:xfrm>
          <a:prstGeom prst="rect">
            <a:avLst/>
          </a:prstGeom>
          <a:noFill/>
        </p:spPr>
        <p:txBody>
          <a:bodyPr wrap="square">
            <a:spAutoFit/>
          </a:bodyPr>
          <a:lstStyle/>
          <a:p>
            <a:pPr>
              <a:defRPr sz="2800" b="1">
                <a:solidFill>
                  <a:srgbClr val="FFFFFF"/>
                </a:solidFill>
                <a:latin typeface="Segoe UI"/>
              </a:defRPr>
            </a:pPr>
            <a:r>
              <a:t>RESTful API Architecture &amp; Routes</a:t>
            </a:r>
          </a:p>
        </p:txBody>
      </p:sp>
      <p:sp>
        <p:nvSpPr>
          <p:cNvPr id="4" name="Rectangle 3"/>
          <p:cNvSpPr/>
          <p:nvPr/>
        </p:nvSpPr>
        <p:spPr>
          <a:xfrm>
            <a:off x="548640" y="1280160"/>
            <a:ext cx="10972800" cy="18288"/>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645920"/>
          <a:ext cx="11064240" cy="4389120"/>
        </p:xfrm>
        <a:graphic>
          <a:graphicData uri="http://schemas.openxmlformats.org/drawingml/2006/table">
            <a:tbl>
              <a:tblPr firstRow="1" bandRow="1">
                <a:tableStyleId>{5C22544A-7EE6-4342-B048-85BDC9FD1C3A}</a:tableStyleId>
              </a:tblPr>
              <a:tblGrid>
                <a:gridCol w="1645920"/>
                <a:gridCol w="2926080"/>
                <a:gridCol w="5120640"/>
                <a:gridCol w="1371600"/>
              </a:tblGrid>
              <a:tr h="627017">
                <a:tc>
                  <a:txBody>
                    <a:bodyPr/>
                    <a:lstStyle/>
                    <a:p>
                      <a:pPr algn="ctr">
                        <a:defRPr sz="1400" b="1">
                          <a:solidFill>
                            <a:srgbClr val="FFFFFF"/>
                          </a:solidFill>
                          <a:latin typeface="Segoe UI"/>
                        </a:defRPr>
                      </a:pPr>
                      <a:r>
                        <a:t>HTTP Method</a:t>
                      </a:r>
                    </a:p>
                  </a:txBody>
                  <a:tcPr>
                    <a:solidFill>
                      <a:srgbClr val="8B5CF6"/>
                    </a:solidFill>
                  </a:tcPr>
                </a:tc>
                <a:tc>
                  <a:txBody>
                    <a:bodyPr/>
                    <a:lstStyle/>
                    <a:p>
                      <a:pPr algn="ctr">
                        <a:defRPr sz="1400" b="1">
                          <a:solidFill>
                            <a:srgbClr val="FFFFFF"/>
                          </a:solidFill>
                          <a:latin typeface="Segoe UI"/>
                        </a:defRPr>
                      </a:pPr>
                      <a:r>
                        <a:t>API Route</a:t>
                      </a:r>
                    </a:p>
                  </a:txBody>
                  <a:tcPr>
                    <a:solidFill>
                      <a:srgbClr val="8B5CF6"/>
                    </a:solidFill>
                  </a:tcPr>
                </a:tc>
                <a:tc>
                  <a:txBody>
                    <a:bodyPr/>
                    <a:lstStyle/>
                    <a:p>
                      <a:pPr algn="ctr">
                        <a:defRPr sz="1400" b="1">
                          <a:solidFill>
                            <a:srgbClr val="FFFFFF"/>
                          </a:solidFill>
                          <a:latin typeface="Segoe UI"/>
                        </a:defRPr>
                      </a:pPr>
                      <a:r>
                        <a:t>Description</a:t>
                      </a:r>
                    </a:p>
                  </a:txBody>
                  <a:tcPr>
                    <a:solidFill>
                      <a:srgbClr val="8B5CF6"/>
                    </a:solidFill>
                  </a:tcPr>
                </a:tc>
                <a:tc>
                  <a:txBody>
                    <a:bodyPr/>
                    <a:lstStyle/>
                    <a:p>
                      <a:pPr algn="ctr">
                        <a:defRPr sz="1400" b="1">
                          <a:solidFill>
                            <a:srgbClr val="FFFFFF"/>
                          </a:solidFill>
                          <a:latin typeface="Segoe UI"/>
                        </a:defRPr>
                      </a:pPr>
                      <a:r>
                        <a:t>Auth Required</a:t>
                      </a:r>
                    </a:p>
                  </a:txBody>
                  <a:tcPr>
                    <a:solidFill>
                      <a:srgbClr val="8B5CF6"/>
                    </a:solidFill>
                  </a:tcPr>
                </a:tc>
              </a:tr>
              <a:tr h="627017">
                <a:tc>
                  <a:txBody>
                    <a:bodyPr/>
                    <a:lstStyle/>
                    <a:p>
                      <a:pPr algn="ctr">
                        <a:defRPr sz="1200" b="1">
                          <a:solidFill>
                            <a:srgbClr val="06B6D4"/>
                          </a:solidFill>
                          <a:latin typeface="Segoe UI"/>
                        </a:defRPr>
                      </a:pPr>
                      <a:r>
                        <a:t>POST</a:t>
                      </a:r>
                    </a:p>
                  </a:txBody>
                  <a:tcPr>
                    <a:solidFill>
                      <a:srgbClr val="181C38"/>
                    </a:solidFill>
                  </a:tcPr>
                </a:tc>
                <a:tc>
                  <a:txBody>
                    <a:bodyPr/>
                    <a:lstStyle/>
                    <a:p>
                      <a:pPr algn="l">
                        <a:defRPr sz="1200">
                          <a:solidFill>
                            <a:srgbClr val="06B6D4"/>
                          </a:solidFill>
                          <a:latin typeface="Consolas"/>
                        </a:defRPr>
                      </a:pPr>
                      <a:r>
                        <a:t>/api/auth/register</a:t>
                      </a:r>
                    </a:p>
                  </a:txBody>
                  <a:tcPr>
                    <a:solidFill>
                      <a:srgbClr val="181C38"/>
                    </a:solidFill>
                  </a:tcPr>
                </a:tc>
                <a:tc>
                  <a:txBody>
                    <a:bodyPr/>
                    <a:lstStyle/>
                    <a:p>
                      <a:pPr algn="l">
                        <a:defRPr sz="1200">
                          <a:solidFill>
                            <a:srgbClr val="FFFFFF"/>
                          </a:solidFill>
                          <a:latin typeface="Segoe UI"/>
                        </a:defRPr>
                      </a:pPr>
                      <a:r>
                        <a:t>Register a new user account (cryptographic hashing)</a:t>
                      </a:r>
                    </a:p>
                  </a:txBody>
                  <a:tcPr>
                    <a:solidFill>
                      <a:srgbClr val="181C38"/>
                    </a:solidFill>
                  </a:tcPr>
                </a:tc>
                <a:tc>
                  <a:txBody>
                    <a:bodyPr/>
                    <a:lstStyle/>
                    <a:p>
                      <a:pPr algn="ctr">
                        <a:defRPr sz="1200">
                          <a:solidFill>
                            <a:srgbClr val="FFFFFF"/>
                          </a:solidFill>
                          <a:latin typeface="Segoe UI"/>
                        </a:defRPr>
                      </a:pPr>
                      <a:r>
                        <a:t>No</a:t>
                      </a:r>
                    </a:p>
                  </a:txBody>
                  <a:tcPr>
                    <a:solidFill>
                      <a:srgbClr val="181C38"/>
                    </a:solidFill>
                  </a:tcPr>
                </a:tc>
              </a:tr>
              <a:tr h="627017">
                <a:tc>
                  <a:txBody>
                    <a:bodyPr/>
                    <a:lstStyle/>
                    <a:p>
                      <a:pPr algn="ctr">
                        <a:defRPr sz="1200" b="1">
                          <a:solidFill>
                            <a:srgbClr val="06B6D4"/>
                          </a:solidFill>
                          <a:latin typeface="Segoe UI"/>
                        </a:defRPr>
                      </a:pPr>
                      <a:r>
                        <a:t>POST</a:t>
                      </a:r>
                    </a:p>
                  </a:txBody>
                  <a:tcPr>
                    <a:solidFill>
                      <a:srgbClr val="181C38"/>
                    </a:solidFill>
                  </a:tcPr>
                </a:tc>
                <a:tc>
                  <a:txBody>
                    <a:bodyPr/>
                    <a:lstStyle/>
                    <a:p>
                      <a:pPr algn="l">
                        <a:defRPr sz="1200">
                          <a:solidFill>
                            <a:srgbClr val="06B6D4"/>
                          </a:solidFill>
                          <a:latin typeface="Consolas"/>
                        </a:defRPr>
                      </a:pPr>
                      <a:r>
                        <a:t>/api/auth/login</a:t>
                      </a:r>
                    </a:p>
                  </a:txBody>
                  <a:tcPr>
                    <a:solidFill>
                      <a:srgbClr val="181C38"/>
                    </a:solidFill>
                  </a:tcPr>
                </a:tc>
                <a:tc>
                  <a:txBody>
                    <a:bodyPr/>
                    <a:lstStyle/>
                    <a:p>
                      <a:pPr algn="l">
                        <a:defRPr sz="1200">
                          <a:solidFill>
                            <a:srgbClr val="FFFFFF"/>
                          </a:solidFill>
                          <a:latin typeface="Segoe UI"/>
                        </a:defRPr>
                      </a:pPr>
                      <a:r>
                        <a:t>Authenticate credentials &amp; receive signed JWT token</a:t>
                      </a:r>
                    </a:p>
                  </a:txBody>
                  <a:tcPr>
                    <a:solidFill>
                      <a:srgbClr val="181C38"/>
                    </a:solidFill>
                  </a:tcPr>
                </a:tc>
                <a:tc>
                  <a:txBody>
                    <a:bodyPr/>
                    <a:lstStyle/>
                    <a:p>
                      <a:pPr algn="ctr">
                        <a:defRPr sz="1200">
                          <a:solidFill>
                            <a:srgbClr val="FFFFFF"/>
                          </a:solidFill>
                          <a:latin typeface="Segoe UI"/>
                        </a:defRPr>
                      </a:pPr>
                      <a:r>
                        <a:t>No</a:t>
                      </a:r>
                    </a:p>
                  </a:txBody>
                  <a:tcPr>
                    <a:solidFill>
                      <a:srgbClr val="181C38"/>
                    </a:solidFill>
                  </a:tcPr>
                </a:tc>
              </a:tr>
              <a:tr h="627017">
                <a:tc>
                  <a:txBody>
                    <a:bodyPr/>
                    <a:lstStyle/>
                    <a:p>
                      <a:pPr algn="ctr">
                        <a:defRPr sz="1200" b="1">
                          <a:solidFill>
                            <a:srgbClr val="06B6D4"/>
                          </a:solidFill>
                          <a:latin typeface="Segoe UI"/>
                        </a:defRPr>
                      </a:pPr>
                      <a:r>
                        <a:t>POST</a:t>
                      </a:r>
                    </a:p>
                  </a:txBody>
                  <a:tcPr>
                    <a:solidFill>
                      <a:srgbClr val="181C38"/>
                    </a:solidFill>
                  </a:tcPr>
                </a:tc>
                <a:tc>
                  <a:txBody>
                    <a:bodyPr/>
                    <a:lstStyle/>
                    <a:p>
                      <a:pPr algn="l">
                        <a:defRPr sz="1200">
                          <a:solidFill>
                            <a:srgbClr val="06B6D4"/>
                          </a:solidFill>
                          <a:latin typeface="Consolas"/>
                        </a:defRPr>
                      </a:pPr>
                      <a:r>
                        <a:t>/api/llm/chat</a:t>
                      </a:r>
                    </a:p>
                  </a:txBody>
                  <a:tcPr>
                    <a:solidFill>
                      <a:srgbClr val="181C38"/>
                    </a:solidFill>
                  </a:tcPr>
                </a:tc>
                <a:tc>
                  <a:txBody>
                    <a:bodyPr/>
                    <a:lstStyle/>
                    <a:p>
                      <a:pPr algn="l">
                        <a:defRPr sz="1200">
                          <a:solidFill>
                            <a:srgbClr val="FFFFFF"/>
                          </a:solidFill>
                          <a:latin typeface="Segoe UI"/>
                        </a:defRPr>
                      </a:pPr>
                      <a:r>
                        <a:t>Security Gateway Proxy. Inspects and processes prompts</a:t>
                      </a:r>
                    </a:p>
                  </a:txBody>
                  <a:tcPr>
                    <a:solidFill>
                      <a:srgbClr val="181C38"/>
                    </a:solidFill>
                  </a:tcPr>
                </a:tc>
                <a:tc>
                  <a:txBody>
                    <a:bodyPr/>
                    <a:lstStyle/>
                    <a:p>
                      <a:pPr algn="ctr">
                        <a:defRPr sz="1200">
                          <a:solidFill>
                            <a:srgbClr val="FFFFFF"/>
                          </a:solidFill>
                          <a:latin typeface="Segoe UI"/>
                        </a:defRPr>
                      </a:pPr>
                      <a:r>
                        <a:t>Yes (JWT)</a:t>
                      </a:r>
                    </a:p>
                  </a:txBody>
                  <a:tcPr>
                    <a:solidFill>
                      <a:srgbClr val="181C38"/>
                    </a:solidFill>
                  </a:tcPr>
                </a:tc>
              </a:tr>
              <a:tr h="627017">
                <a:tc>
                  <a:txBody>
                    <a:bodyPr/>
                    <a:lstStyle/>
                    <a:p>
                      <a:pPr algn="ctr">
                        <a:defRPr sz="1200" b="1">
                          <a:solidFill>
                            <a:srgbClr val="10B981"/>
                          </a:solidFill>
                          <a:latin typeface="Segoe UI"/>
                        </a:defRPr>
                      </a:pPr>
                      <a:r>
                        <a:t>GET</a:t>
                      </a:r>
                    </a:p>
                  </a:txBody>
                  <a:tcPr>
                    <a:solidFill>
                      <a:srgbClr val="181C38"/>
                    </a:solidFill>
                  </a:tcPr>
                </a:tc>
                <a:tc>
                  <a:txBody>
                    <a:bodyPr/>
                    <a:lstStyle/>
                    <a:p>
                      <a:pPr algn="l">
                        <a:defRPr sz="1200">
                          <a:solidFill>
                            <a:srgbClr val="06B6D4"/>
                          </a:solidFill>
                          <a:latin typeface="Consolas"/>
                        </a:defRPr>
                      </a:pPr>
                      <a:r>
                        <a:t>/api/analytics/summary</a:t>
                      </a:r>
                    </a:p>
                  </a:txBody>
                  <a:tcPr>
                    <a:solidFill>
                      <a:srgbClr val="181C38"/>
                    </a:solidFill>
                  </a:tcPr>
                </a:tc>
                <a:tc>
                  <a:txBody>
                    <a:bodyPr/>
                    <a:lstStyle/>
                    <a:p>
                      <a:pPr algn="l">
                        <a:defRPr sz="1200">
                          <a:solidFill>
                            <a:srgbClr val="FFFFFF"/>
                          </a:solidFill>
                          <a:latin typeface="Segoe UI"/>
                        </a:defRPr>
                      </a:pPr>
                      <a:r>
                        <a:t>Retrieve aggregate dashboard numbers (Total, Allowed, Blocked)</a:t>
                      </a:r>
                    </a:p>
                  </a:txBody>
                  <a:tcPr>
                    <a:solidFill>
                      <a:srgbClr val="181C38"/>
                    </a:solidFill>
                  </a:tcPr>
                </a:tc>
                <a:tc>
                  <a:txBody>
                    <a:bodyPr/>
                    <a:lstStyle/>
                    <a:p>
                      <a:pPr algn="ctr">
                        <a:defRPr sz="1200">
                          <a:solidFill>
                            <a:srgbClr val="FFFFFF"/>
                          </a:solidFill>
                          <a:latin typeface="Segoe UI"/>
                        </a:defRPr>
                      </a:pPr>
                      <a:r>
                        <a:t>Yes (JWT)</a:t>
                      </a:r>
                    </a:p>
                  </a:txBody>
                  <a:tcPr>
                    <a:solidFill>
                      <a:srgbClr val="181C38"/>
                    </a:solidFill>
                  </a:tcPr>
                </a:tc>
              </a:tr>
              <a:tr h="627017">
                <a:tc>
                  <a:txBody>
                    <a:bodyPr/>
                    <a:lstStyle/>
                    <a:p>
                      <a:pPr algn="ctr">
                        <a:defRPr sz="1200" b="1">
                          <a:solidFill>
                            <a:srgbClr val="10B981"/>
                          </a:solidFill>
                          <a:latin typeface="Segoe UI"/>
                        </a:defRPr>
                      </a:pPr>
                      <a:r>
                        <a:t>GET</a:t>
                      </a:r>
                    </a:p>
                  </a:txBody>
                  <a:tcPr>
                    <a:solidFill>
                      <a:srgbClr val="181C38"/>
                    </a:solidFill>
                  </a:tcPr>
                </a:tc>
                <a:tc>
                  <a:txBody>
                    <a:bodyPr/>
                    <a:lstStyle/>
                    <a:p>
                      <a:pPr algn="l">
                        <a:defRPr sz="1200">
                          <a:solidFill>
                            <a:srgbClr val="06B6D4"/>
                          </a:solidFill>
                          <a:latin typeface="Consolas"/>
                        </a:defRPr>
                      </a:pPr>
                      <a:r>
                        <a:t>/api/analytics/logs</a:t>
                      </a:r>
                    </a:p>
                  </a:txBody>
                  <a:tcPr>
                    <a:solidFill>
                      <a:srgbClr val="181C38"/>
                    </a:solidFill>
                  </a:tcPr>
                </a:tc>
                <a:tc>
                  <a:txBody>
                    <a:bodyPr/>
                    <a:lstStyle/>
                    <a:p>
                      <a:pPr algn="l">
                        <a:defRPr sz="1200">
                          <a:solidFill>
                            <a:srgbClr val="FFFFFF"/>
                          </a:solidFill>
                          <a:latin typeface="Segoe UI"/>
                        </a:defRPr>
                      </a:pPr>
                      <a:r>
                        <a:t>Query paginated, searchable audit log logs history</a:t>
                      </a:r>
                    </a:p>
                  </a:txBody>
                  <a:tcPr>
                    <a:solidFill>
                      <a:srgbClr val="181C38"/>
                    </a:solidFill>
                  </a:tcPr>
                </a:tc>
                <a:tc>
                  <a:txBody>
                    <a:bodyPr/>
                    <a:lstStyle/>
                    <a:p>
                      <a:pPr algn="ctr">
                        <a:defRPr sz="1200">
                          <a:solidFill>
                            <a:srgbClr val="FFFFFF"/>
                          </a:solidFill>
                          <a:latin typeface="Segoe UI"/>
                        </a:defRPr>
                      </a:pPr>
                      <a:r>
                        <a:t>Yes (JWT)</a:t>
                      </a:r>
                    </a:p>
                  </a:txBody>
                  <a:tcPr>
                    <a:solidFill>
                      <a:srgbClr val="181C38"/>
                    </a:solidFill>
                  </a:tcPr>
                </a:tc>
              </a:tr>
              <a:tr h="627018">
                <a:tc>
                  <a:txBody>
                    <a:bodyPr/>
                    <a:lstStyle/>
                    <a:p>
                      <a:pPr algn="ctr">
                        <a:defRPr sz="1200" b="1">
                          <a:solidFill>
                            <a:srgbClr val="10B981"/>
                          </a:solidFill>
                          <a:latin typeface="Segoe UI"/>
                        </a:defRPr>
                      </a:pPr>
                      <a:r>
                        <a:t>GET</a:t>
                      </a:r>
                    </a:p>
                  </a:txBody>
                  <a:tcPr>
                    <a:solidFill>
                      <a:srgbClr val="181C38"/>
                    </a:solidFill>
                  </a:tcPr>
                </a:tc>
                <a:tc>
                  <a:txBody>
                    <a:bodyPr/>
                    <a:lstStyle/>
                    <a:p>
                      <a:pPr algn="l">
                        <a:defRPr sz="1200">
                          <a:solidFill>
                            <a:srgbClr val="06B6D4"/>
                          </a:solidFill>
                          <a:latin typeface="Consolas"/>
                        </a:defRPr>
                      </a:pPr>
                      <a:r>
                        <a:t>/api/analytics/trends</a:t>
                      </a:r>
                    </a:p>
                  </a:txBody>
                  <a:tcPr>
                    <a:solidFill>
                      <a:srgbClr val="181C38"/>
                    </a:solidFill>
                  </a:tcPr>
                </a:tc>
                <a:tc>
                  <a:txBody>
                    <a:bodyPr/>
                    <a:lstStyle/>
                    <a:p>
                      <a:pPr algn="l">
                        <a:defRPr sz="1200">
                          <a:solidFill>
                            <a:srgbClr val="FFFFFF"/>
                          </a:solidFill>
                          <a:latin typeface="Segoe UI"/>
                        </a:defRPr>
                      </a:pPr>
                      <a:r>
                        <a:t>Fetch daily request count metrics for threat trend charts</a:t>
                      </a:r>
                    </a:p>
                  </a:txBody>
                  <a:tcPr>
                    <a:solidFill>
                      <a:srgbClr val="181C38"/>
                    </a:solidFill>
                  </a:tcPr>
                </a:tc>
                <a:tc>
                  <a:txBody>
                    <a:bodyPr/>
                    <a:lstStyle/>
                    <a:p>
                      <a:pPr algn="ctr">
                        <a:defRPr sz="1200">
                          <a:solidFill>
                            <a:srgbClr val="FFFFFF"/>
                          </a:solidFill>
                          <a:latin typeface="Segoe UI"/>
                        </a:defRPr>
                      </a:pPr>
                      <a:r>
                        <a:t>Yes (JWT)</a:t>
                      </a:r>
                    </a:p>
                  </a:txBody>
                  <a:tcPr>
                    <a:solidFill>
                      <a:srgbClr val="181C38"/>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a:spAutoFit/>
          </a:bodyPr>
          <a:lstStyle/>
          <a:p>
            <a:pPr>
              <a:defRPr sz="1000" b="1">
                <a:solidFill>
                  <a:srgbClr val="8B5CF6"/>
                </a:solidFill>
                <a:latin typeface="Segoe UI"/>
              </a:defRPr>
            </a:pPr>
            <a:r>
              <a:t>LLM-DEFANC</a:t>
            </a:r>
          </a:p>
        </p:txBody>
      </p:sp>
      <p:sp>
        <p:nvSpPr>
          <p:cNvPr id="3" name="TextBox 2"/>
          <p:cNvSpPr txBox="1"/>
          <p:nvPr/>
        </p:nvSpPr>
        <p:spPr>
          <a:xfrm>
            <a:off x="548640" y="548640"/>
            <a:ext cx="10972800" cy="731520"/>
          </a:xfrm>
          <a:prstGeom prst="rect">
            <a:avLst/>
          </a:prstGeom>
          <a:noFill/>
        </p:spPr>
        <p:txBody>
          <a:bodyPr wrap="square">
            <a:spAutoFit/>
          </a:bodyPr>
          <a:lstStyle/>
          <a:p>
            <a:pPr>
              <a:defRPr sz="2800" b="1">
                <a:solidFill>
                  <a:srgbClr val="FFFFFF"/>
                </a:solidFill>
                <a:latin typeface="Segoe UI"/>
              </a:defRPr>
            </a:pPr>
            <a:r>
              <a:t>Future Roadmap: Enterprise Integrations</a:t>
            </a:r>
          </a:p>
        </p:txBody>
      </p:sp>
      <p:sp>
        <p:nvSpPr>
          <p:cNvPr id="4" name="Rectangle 3"/>
          <p:cNvSpPr/>
          <p:nvPr/>
        </p:nvSpPr>
        <p:spPr>
          <a:xfrm>
            <a:off x="548640" y="1280160"/>
            <a:ext cx="10972800" cy="18288"/>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828800"/>
            <a:ext cx="5303520" cy="411480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011680"/>
            <a:ext cx="4937760" cy="3749039"/>
          </a:xfrm>
          <a:prstGeom prst="rect">
            <a:avLst/>
          </a:prstGeom>
          <a:noFill/>
        </p:spPr>
        <p:txBody>
          <a:bodyPr wrap="square">
            <a:spAutoFit/>
          </a:bodyPr>
          <a:lstStyle/>
          <a:p>
            <a:pPr>
              <a:spcAft>
                <a:spcPts val="1400"/>
              </a:spcAft>
              <a:defRPr sz="2000" b="1">
                <a:solidFill>
                  <a:srgbClr val="06B6D4"/>
                </a:solidFill>
                <a:latin typeface="Segoe UI"/>
              </a:defRPr>
            </a:pPr>
            <a:r>
              <a:t>Advanced ML Security</a:t>
            </a:r>
          </a:p>
          <a:p>
            <a:pPr>
              <a:defRPr sz="1400">
                <a:latin typeface="Segoe UI"/>
              </a:defRPr>
            </a:pPr>
            <a:r>
              <a:rPr b="1">
                <a:solidFill>
                  <a:srgbClr val="06B6D4"/>
                </a:solidFill>
              </a:rPr>
              <a:t>• ML Risk Classifiers: </a:t>
            </a:r>
            <a:r>
              <a:rPr>
                <a:solidFill>
                  <a:srgbClr val="FFFFFF"/>
                </a:solidFill>
              </a:rPr>
              <a:t>Integrate vector similarity checks and small ML models to catch complex semantics bypass attempts.</a:t>
            </a:r>
          </a:p>
          <a:p>
            <a:pPr>
              <a:defRPr sz="1400">
                <a:latin typeface="Segoe UI"/>
              </a:defRPr>
            </a:pPr>
            <a:r>
              <a:rPr b="1">
                <a:solidFill>
                  <a:srgbClr val="06B6D4"/>
                </a:solidFill>
              </a:rPr>
              <a:t>• Dynamic Policy Manager: </a:t>
            </a:r>
            <a:r>
              <a:rPr>
                <a:solidFill>
                  <a:srgbClr val="FFFFFF"/>
                </a:solidFill>
              </a:rPr>
              <a:t>Enable user groups configuration with distinct PII and prompt injection rules.</a:t>
            </a:r>
          </a:p>
          <a:p>
            <a:pPr>
              <a:defRPr sz="1400">
                <a:latin typeface="Segoe UI"/>
              </a:defRPr>
            </a:pPr>
            <a:r>
              <a:rPr b="1">
                <a:solidFill>
                  <a:srgbClr val="06B6D4"/>
                </a:solidFill>
              </a:rPr>
              <a:t>• Multi-LLM Routing: </a:t>
            </a:r>
            <a:r>
              <a:rPr>
                <a:solidFill>
                  <a:srgbClr val="FFFFFF"/>
                </a:solidFill>
              </a:rPr>
              <a:t>Auto-route prompts across OpenAI, Claude, and Gemini with load-balancing and token cost counters.</a:t>
            </a:r>
          </a:p>
        </p:txBody>
      </p:sp>
      <p:sp>
        <p:nvSpPr>
          <p:cNvPr id="7" name="Rounded Rectangle 6"/>
          <p:cNvSpPr/>
          <p:nvPr/>
        </p:nvSpPr>
        <p:spPr>
          <a:xfrm>
            <a:off x="6309360" y="1828800"/>
            <a:ext cx="5303520" cy="411480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2011680"/>
            <a:ext cx="4937760" cy="3749039"/>
          </a:xfrm>
          <a:prstGeom prst="rect">
            <a:avLst/>
          </a:prstGeom>
          <a:noFill/>
        </p:spPr>
        <p:txBody>
          <a:bodyPr wrap="square">
            <a:spAutoFit/>
          </a:bodyPr>
          <a:lstStyle/>
          <a:p>
            <a:pPr>
              <a:spcAft>
                <a:spcPts val="1400"/>
              </a:spcAft>
              <a:defRPr sz="2000" b="1">
                <a:solidFill>
                  <a:srgbClr val="8B5CF6"/>
                </a:solidFill>
                <a:latin typeface="Segoe UI"/>
              </a:defRPr>
            </a:pPr>
            <a:r>
              <a:t>Enterprise Integrations &amp; Scale</a:t>
            </a:r>
          </a:p>
          <a:p>
            <a:pPr>
              <a:defRPr sz="1400">
                <a:latin typeface="Segoe UI"/>
              </a:defRPr>
            </a:pPr>
            <a:r>
              <a:rPr b="1">
                <a:solidFill>
                  <a:srgbClr val="06B6D4"/>
                </a:solidFill>
              </a:rPr>
              <a:t>• SIEM Exporter: </a:t>
            </a:r>
            <a:r>
              <a:rPr>
                <a:solidFill>
                  <a:srgbClr val="FFFFFF"/>
                </a:solidFill>
              </a:rPr>
              <a:t>Build exports to integrate logs with Splunk, Wazuh, ELK Stack, and Azure Sentinel for SOC monitoring.</a:t>
            </a:r>
          </a:p>
          <a:p>
            <a:pPr>
              <a:defRPr sz="1400">
                <a:latin typeface="Segoe UI"/>
              </a:defRPr>
            </a:pPr>
            <a:r>
              <a:rPr b="1">
                <a:solidFill>
                  <a:srgbClr val="06B6D4"/>
                </a:solidFill>
              </a:rPr>
              <a:t>• Kubernetes Scaling: </a:t>
            </a:r>
            <a:r>
              <a:rPr>
                <a:solidFill>
                  <a:srgbClr val="FFFFFF"/>
                </a:solidFill>
              </a:rPr>
              <a:t>Autoscale container clusters using HPA (Horizontal Pod Autoscaler) dynamically based on ingress request loads.</a:t>
            </a:r>
          </a:p>
          <a:p>
            <a:pPr>
              <a:defRPr sz="1400">
                <a:latin typeface="Segoe UI"/>
              </a:defRPr>
            </a:pPr>
            <a:r>
              <a:rPr b="1">
                <a:solidFill>
                  <a:srgbClr val="06B6D4"/>
                </a:solidFill>
              </a:rPr>
              <a:t>• SSO Integrations: </a:t>
            </a:r>
            <a:r>
              <a:rPr>
                <a:solidFill>
                  <a:srgbClr val="FFFFFF"/>
                </a:solidFill>
              </a:rPr>
              <a:t>Integrate with active directories and SSO providers (OIDC, SAML, Okta).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65760"/>
            <a:ext cx="10972800" cy="274320"/>
          </a:xfrm>
          <a:prstGeom prst="rect">
            <a:avLst/>
          </a:prstGeom>
          <a:noFill/>
        </p:spPr>
        <p:txBody>
          <a:bodyPr wrap="square">
            <a:spAutoFit/>
          </a:bodyPr>
          <a:lstStyle/>
          <a:p>
            <a:pPr>
              <a:defRPr sz="1000" b="1">
                <a:solidFill>
                  <a:srgbClr val="8B5CF6"/>
                </a:solidFill>
                <a:latin typeface="Segoe UI"/>
              </a:defRPr>
            </a:pPr>
            <a:r>
              <a:t>LLM-DEFANC</a:t>
            </a:r>
          </a:p>
        </p:txBody>
      </p:sp>
      <p:sp>
        <p:nvSpPr>
          <p:cNvPr id="3" name="TextBox 2"/>
          <p:cNvSpPr txBox="1"/>
          <p:nvPr/>
        </p:nvSpPr>
        <p:spPr>
          <a:xfrm>
            <a:off x="548640" y="548640"/>
            <a:ext cx="10972800" cy="731520"/>
          </a:xfrm>
          <a:prstGeom prst="rect">
            <a:avLst/>
          </a:prstGeom>
          <a:noFill/>
        </p:spPr>
        <p:txBody>
          <a:bodyPr wrap="square">
            <a:spAutoFit/>
          </a:bodyPr>
          <a:lstStyle/>
          <a:p>
            <a:pPr>
              <a:defRPr sz="2800" b="1">
                <a:solidFill>
                  <a:srgbClr val="FFFFFF"/>
                </a:solidFill>
                <a:latin typeface="Segoe UI"/>
              </a:defRPr>
            </a:pPr>
            <a:r>
              <a:t>Conclusion: Secure AI Adoption</a:t>
            </a:r>
          </a:p>
        </p:txBody>
      </p:sp>
      <p:sp>
        <p:nvSpPr>
          <p:cNvPr id="4" name="Rectangle 3"/>
          <p:cNvSpPr/>
          <p:nvPr/>
        </p:nvSpPr>
        <p:spPr>
          <a:xfrm>
            <a:off x="548640" y="1280160"/>
            <a:ext cx="10972800" cy="18288"/>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828800" y="1645920"/>
            <a:ext cx="8531352" cy="4572000"/>
          </a:xfrm>
          <a:prstGeom prst="roundRect">
            <a:avLst/>
          </a:prstGeom>
          <a:solidFill>
            <a:srgbClr val="181C38"/>
          </a:solidFill>
          <a:ln w="1905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011680" y="1828800"/>
            <a:ext cx="8165592" cy="4206240"/>
          </a:xfrm>
          <a:prstGeom prst="rect">
            <a:avLst/>
          </a:prstGeom>
          <a:noFill/>
        </p:spPr>
        <p:txBody>
          <a:bodyPr wrap="square">
            <a:spAutoFit/>
          </a:bodyPr>
          <a:lstStyle/>
          <a:p>
            <a:pPr>
              <a:spcAft>
                <a:spcPts val="1800"/>
              </a:spcAft>
              <a:defRPr sz="2400" b="1">
                <a:solidFill>
                  <a:srgbClr val="10B981"/>
                </a:solidFill>
                <a:latin typeface="Segoe UI"/>
              </a:defRPr>
            </a:pPr>
            <a:r>
              <a:t>LLM-Defanc - Gateway to Secure GenAI</a:t>
            </a:r>
          </a:p>
          <a:p>
            <a:pPr>
              <a:defRPr sz="1600">
                <a:latin typeface="Segoe UI"/>
              </a:defRPr>
            </a:pPr>
            <a:r>
              <a:rPr b="1">
                <a:solidFill>
                  <a:srgbClr val="06B6D4"/>
                </a:solidFill>
              </a:rPr>
              <a:t>• Centralized Security Gateway: </a:t>
            </a:r>
            <a:r>
              <a:rPr>
                <a:solidFill>
                  <a:srgbClr val="FFFFFF"/>
                </a:solidFill>
              </a:rPr>
              <a:t>Provides a single point of enforcement for all GenAI API interactions, protecting intellectual assets.</a:t>
            </a:r>
          </a:p>
          <a:p>
            <a:pPr>
              <a:defRPr sz="1600">
                <a:latin typeface="Segoe UI"/>
              </a:defRPr>
            </a:pPr>
            <a:r>
              <a:rPr b="1">
                <a:solidFill>
                  <a:srgbClr val="06B6D4"/>
                </a:solidFill>
              </a:rPr>
              <a:t>• Mitigates Data &amp; Threat Risks: </a:t>
            </a:r>
            <a:r>
              <a:rPr>
                <a:solidFill>
                  <a:srgbClr val="FFFFFF"/>
                </a:solidFill>
              </a:rPr>
              <a:t>Combines lightning-fast PII redactions and heuristics injection shields to secure corporate queries.</a:t>
            </a:r>
          </a:p>
          <a:p>
            <a:pPr>
              <a:defRPr sz="1600">
                <a:latin typeface="Segoe UI"/>
              </a:defRPr>
            </a:pPr>
            <a:r>
              <a:rPr b="1">
                <a:solidFill>
                  <a:srgbClr val="06B6D4"/>
                </a:solidFill>
              </a:rPr>
              <a:t>• Comprehensive Compliance Audits: </a:t>
            </a:r>
            <a:r>
              <a:rPr>
                <a:solidFill>
                  <a:srgbClr val="FFFFFF"/>
                </a:solidFill>
              </a:rPr>
              <a:t>Generates background-persisted audit trails that guarantee complete transparency for regulatory compliance checks.</a:t>
            </a:r>
          </a:p>
          <a:p>
            <a:pPr>
              <a:defRPr sz="1600">
                <a:latin typeface="Segoe UI"/>
              </a:defRPr>
            </a:pPr>
            <a:r>
              <a:rPr b="1">
                <a:solidFill>
                  <a:srgbClr val="06B6D4"/>
                </a:solidFill>
              </a:rPr>
              <a:t>• Production-ready &amp; Resilient: </a:t>
            </a:r>
            <a:r>
              <a:rPr>
                <a:solidFill>
                  <a:srgbClr val="FFFFFF"/>
                </a:solidFill>
              </a:rPr>
              <a:t>FastAPI async foundation with database-agnostic SQLite/Postgres fallbacks ensures easy out-of-the-box deployments.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